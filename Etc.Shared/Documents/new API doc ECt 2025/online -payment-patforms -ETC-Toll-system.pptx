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5621000" cy="8801100"/>
  <p:notesSz cx="6858000" cy="9144000"/>
  <p:embeddedFontLst>
    <p:embeddedFont>
      <p:font typeface="League Spartan" charset="0"/>
      <p:regular r:id="rId14"/>
    </p:embeddedFont>
    <p:embeddedFont>
      <p:font typeface="Canva Sans" charset="0"/>
      <p:regular r:id="rId15"/>
    </p:embeddedFont>
    <p:embeddedFont>
      <p:font typeface="Open Sans" charset="0"/>
      <p:regular r:id="rId16"/>
    </p:embeddedFont>
    <p:embeddedFont>
      <p:font typeface="Calibri" pitchFamily="34" charset="0"/>
      <p:regular r:id="rId17"/>
      <p:bold r:id="rId18"/>
      <p:italic r:id="rId19"/>
      <p:boldItalic r:id="rId20"/>
    </p:embeddedFont>
    <p:embeddedFont>
      <p:font typeface="Open Sans Bold"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autoAdjust="0"/>
    <p:restoredTop sz="94622" autoAdjust="0"/>
  </p:normalViewPr>
  <p:slideViewPr>
    <p:cSldViewPr>
      <p:cViewPr varScale="1">
        <p:scale>
          <a:sx n="64" d="100"/>
          <a:sy n="64" d="100"/>
        </p:scale>
        <p:origin x="-672"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235847" y="4192181"/>
            <a:ext cx="6385153" cy="4608919"/>
          </a:xfrm>
          <a:custGeom>
            <a:avLst/>
            <a:gdLst/>
            <a:ahLst/>
            <a:cxnLst/>
            <a:rect l="l" t="t" r="r" b="b"/>
            <a:pathLst>
              <a:path w="6385153" h="4608919">
                <a:moveTo>
                  <a:pt x="0" y="0"/>
                </a:moveTo>
                <a:lnTo>
                  <a:pt x="6385153" y="0"/>
                </a:lnTo>
                <a:lnTo>
                  <a:pt x="6385153" y="4608919"/>
                </a:lnTo>
                <a:lnTo>
                  <a:pt x="0" y="460891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0" y="0"/>
            <a:ext cx="6532445" cy="4715238"/>
          </a:xfrm>
          <a:custGeom>
            <a:avLst/>
            <a:gdLst/>
            <a:ahLst/>
            <a:cxnLst/>
            <a:rect l="l" t="t" r="r" b="b"/>
            <a:pathLst>
              <a:path w="6532445" h="4715238">
                <a:moveTo>
                  <a:pt x="6532445" y="4715238"/>
                </a:moveTo>
                <a:lnTo>
                  <a:pt x="0" y="4715238"/>
                </a:lnTo>
                <a:lnTo>
                  <a:pt x="0" y="0"/>
                </a:lnTo>
                <a:lnTo>
                  <a:pt x="6532445" y="0"/>
                </a:lnTo>
                <a:lnTo>
                  <a:pt x="6532445" y="4715238"/>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4900255" y="7349401"/>
            <a:ext cx="454200" cy="454200"/>
          </a:xfrm>
          <a:custGeom>
            <a:avLst/>
            <a:gdLst/>
            <a:ahLst/>
            <a:cxnLst/>
            <a:rect l="l" t="t" r="r" b="b"/>
            <a:pathLst>
              <a:path w="454200" h="454200">
                <a:moveTo>
                  <a:pt x="0" y="0"/>
                </a:moveTo>
                <a:lnTo>
                  <a:pt x="454199" y="0"/>
                </a:lnTo>
                <a:lnTo>
                  <a:pt x="454199" y="454200"/>
                </a:lnTo>
                <a:lnTo>
                  <a:pt x="0" y="454200"/>
                </a:lnTo>
                <a:lnTo>
                  <a:pt x="0" y="0"/>
                </a:lnTo>
                <a:close/>
              </a:path>
            </a:pathLst>
          </a:custGeom>
          <a:blipFill>
            <a:blip r:embed="rId4" cstate="print">
              <a:extLst>
                <a:ext uri="{96DAC541-7B7A-43D3-8B79-37D633B846F1}">
                  <asvg:svgBlip xmlns:asvg="http://schemas.microsoft.com/office/drawing/2016/SVG/main" xmlns="" r:embed="rId5"/>
                </a:ext>
              </a:extLst>
            </a:blip>
            <a:stretch>
              <a:fillRect/>
            </a:stretch>
          </a:blipFill>
        </p:spPr>
      </p:sp>
      <p:grpSp>
        <p:nvGrpSpPr>
          <p:cNvPr id="5" name="Group 5"/>
          <p:cNvGrpSpPr/>
          <p:nvPr/>
        </p:nvGrpSpPr>
        <p:grpSpPr>
          <a:xfrm>
            <a:off x="880110" y="880110"/>
            <a:ext cx="3524845" cy="6923491"/>
            <a:chOff x="0" y="0"/>
            <a:chExt cx="770882" cy="1514165"/>
          </a:xfrm>
        </p:grpSpPr>
        <p:sp>
          <p:nvSpPr>
            <p:cNvPr id="6" name="Freeform 6"/>
            <p:cNvSpPr/>
            <p:nvPr/>
          </p:nvSpPr>
          <p:spPr>
            <a:xfrm>
              <a:off x="0" y="0"/>
              <a:ext cx="770882" cy="1514165"/>
            </a:xfrm>
            <a:custGeom>
              <a:avLst/>
              <a:gdLst/>
              <a:ahLst/>
              <a:cxnLst/>
              <a:rect l="l" t="t" r="r" b="b"/>
              <a:pathLst>
                <a:path w="770882" h="1514165">
                  <a:moveTo>
                    <a:pt x="0" y="0"/>
                  </a:moveTo>
                  <a:lnTo>
                    <a:pt x="770882" y="0"/>
                  </a:lnTo>
                  <a:lnTo>
                    <a:pt x="770882" y="1514165"/>
                  </a:lnTo>
                  <a:lnTo>
                    <a:pt x="0" y="1514165"/>
                  </a:lnTo>
                  <a:close/>
                </a:path>
              </a:pathLst>
            </a:custGeom>
            <a:blipFill>
              <a:blip r:embed="rId6"/>
              <a:stretch>
                <a:fillRect t="-1994" b="-1994"/>
              </a:stretch>
            </a:blipFill>
            <a:ln w="114300" cap="sq">
              <a:solidFill>
                <a:srgbClr val="0CC0DF"/>
              </a:solidFill>
              <a:prstDash val="solid"/>
              <a:miter/>
            </a:ln>
          </p:spPr>
        </p:sp>
      </p:grpSp>
      <p:sp>
        <p:nvSpPr>
          <p:cNvPr id="7" name="TextBox 7"/>
          <p:cNvSpPr txBox="1"/>
          <p:nvPr/>
        </p:nvSpPr>
        <p:spPr>
          <a:xfrm>
            <a:off x="5127354" y="2882874"/>
            <a:ext cx="10493646" cy="911748"/>
          </a:xfrm>
          <a:prstGeom prst="rect">
            <a:avLst/>
          </a:prstGeom>
        </p:spPr>
        <p:txBody>
          <a:bodyPr lIns="0" tIns="0" rIns="0" bIns="0" rtlCol="0" anchor="t">
            <a:spAutoFit/>
          </a:bodyPr>
          <a:lstStyle/>
          <a:p>
            <a:pPr algn="l">
              <a:lnSpc>
                <a:spcPts val="7057"/>
              </a:lnSpc>
            </a:pPr>
            <a:r>
              <a:rPr lang="en-US" sz="6301" b="1">
                <a:solidFill>
                  <a:srgbClr val="0097B2"/>
                </a:solidFill>
                <a:latin typeface="League Spartan"/>
                <a:ea typeface="League Spartan"/>
                <a:cs typeface="League Spartan"/>
                <a:sym typeface="League Spartan"/>
              </a:rPr>
              <a:t>WITH SONALI E-WALLET</a:t>
            </a:r>
          </a:p>
        </p:txBody>
      </p:sp>
      <p:sp>
        <p:nvSpPr>
          <p:cNvPr id="8" name="TextBox 8"/>
          <p:cNvSpPr txBox="1"/>
          <p:nvPr/>
        </p:nvSpPr>
        <p:spPr>
          <a:xfrm>
            <a:off x="4900255" y="1927613"/>
            <a:ext cx="8483214" cy="907636"/>
          </a:xfrm>
          <a:prstGeom prst="rect">
            <a:avLst/>
          </a:prstGeom>
        </p:spPr>
        <p:txBody>
          <a:bodyPr lIns="0" tIns="0" rIns="0" bIns="0" rtlCol="0" anchor="t">
            <a:spAutoFit/>
          </a:bodyPr>
          <a:lstStyle/>
          <a:p>
            <a:pPr marL="0" lvl="0" indent="0" algn="l">
              <a:lnSpc>
                <a:spcPts val="7057"/>
              </a:lnSpc>
              <a:spcBef>
                <a:spcPct val="0"/>
              </a:spcBef>
            </a:pPr>
            <a:r>
              <a:rPr lang="en-US" sz="6301" b="1">
                <a:solidFill>
                  <a:srgbClr val="080F3D"/>
                </a:solidFill>
                <a:latin typeface="League Spartan"/>
                <a:ea typeface="League Spartan"/>
                <a:cs typeface="League Spartan"/>
                <a:sym typeface="League Spartan"/>
              </a:rPr>
              <a:t>TOLL COLLECTION</a:t>
            </a:r>
          </a:p>
        </p:txBody>
      </p:sp>
      <p:sp>
        <p:nvSpPr>
          <p:cNvPr id="9" name="TextBox 9"/>
          <p:cNvSpPr txBox="1"/>
          <p:nvPr/>
        </p:nvSpPr>
        <p:spPr>
          <a:xfrm>
            <a:off x="5603035" y="7359331"/>
            <a:ext cx="4207461" cy="396240"/>
          </a:xfrm>
          <a:prstGeom prst="rect">
            <a:avLst/>
          </a:prstGeom>
        </p:spPr>
        <p:txBody>
          <a:bodyPr lIns="0" tIns="0" rIns="0" bIns="0" rtlCol="0" anchor="t">
            <a:spAutoFit/>
          </a:bodyPr>
          <a:lstStyle/>
          <a:p>
            <a:pPr algn="l">
              <a:lnSpc>
                <a:spcPts val="3359"/>
              </a:lnSpc>
            </a:pPr>
            <a:r>
              <a:rPr lang="en-US" sz="2400">
                <a:solidFill>
                  <a:srgbClr val="080F3D"/>
                </a:solidFill>
                <a:latin typeface="Canva Sans"/>
                <a:ea typeface="Canva Sans"/>
                <a:cs typeface="Canva Sans"/>
                <a:sym typeface="Canva Sans"/>
              </a:rPr>
              <a:t>www.sonalibank.com.bd</a:t>
            </a:r>
          </a:p>
        </p:txBody>
      </p:sp>
      <p:sp>
        <p:nvSpPr>
          <p:cNvPr id="10" name="TextBox 10"/>
          <p:cNvSpPr txBox="1"/>
          <p:nvPr/>
        </p:nvSpPr>
        <p:spPr>
          <a:xfrm>
            <a:off x="5631610" y="3533962"/>
            <a:ext cx="9585218" cy="455947"/>
          </a:xfrm>
          <a:prstGeom prst="rect">
            <a:avLst/>
          </a:prstGeom>
        </p:spPr>
        <p:txBody>
          <a:bodyPr lIns="0" tIns="0" rIns="0" bIns="0" rtlCol="0" anchor="t">
            <a:spAutoFit/>
          </a:bodyPr>
          <a:lstStyle/>
          <a:p>
            <a:pPr algn="r">
              <a:lnSpc>
                <a:spcPts val="3744"/>
              </a:lnSpc>
            </a:pPr>
            <a:r>
              <a:rPr lang="en-US" sz="2674">
                <a:solidFill>
                  <a:srgbClr val="004AAD"/>
                </a:solidFill>
                <a:latin typeface="Open Sans"/>
                <a:ea typeface="Open Sans"/>
                <a:cs typeface="Open Sans"/>
                <a:sym typeface="Open Sans"/>
              </a:rPr>
              <a:t>A Cashless Smart Toll Payment Solution</a:t>
            </a:r>
          </a:p>
        </p:txBody>
      </p:sp>
      <p:sp>
        <p:nvSpPr>
          <p:cNvPr id="11" name="TextBox 11"/>
          <p:cNvSpPr txBox="1"/>
          <p:nvPr/>
        </p:nvSpPr>
        <p:spPr>
          <a:xfrm>
            <a:off x="4900255" y="5981678"/>
            <a:ext cx="4335593" cy="993792"/>
          </a:xfrm>
          <a:prstGeom prst="rect">
            <a:avLst/>
          </a:prstGeom>
        </p:spPr>
        <p:txBody>
          <a:bodyPr lIns="0" tIns="0" rIns="0" bIns="0" rtlCol="0" anchor="t">
            <a:spAutoFit/>
          </a:bodyPr>
          <a:lstStyle/>
          <a:p>
            <a:pPr algn="just">
              <a:lnSpc>
                <a:spcPts val="4024"/>
              </a:lnSpc>
            </a:pPr>
            <a:r>
              <a:rPr lang="en-US" sz="2874">
                <a:solidFill>
                  <a:srgbClr val="004AAD"/>
                </a:solidFill>
                <a:latin typeface="Open Sans"/>
                <a:ea typeface="Open Sans"/>
                <a:cs typeface="Open Sans"/>
                <a:sym typeface="Open Sans"/>
              </a:rPr>
              <a:t>Presented by:</a:t>
            </a:r>
          </a:p>
          <a:p>
            <a:pPr algn="just">
              <a:lnSpc>
                <a:spcPts val="4024"/>
              </a:lnSpc>
            </a:pPr>
            <a:r>
              <a:rPr lang="en-US" sz="2874">
                <a:solidFill>
                  <a:srgbClr val="004AAD"/>
                </a:solidFill>
                <a:latin typeface="Open Sans"/>
                <a:ea typeface="Open Sans"/>
                <a:cs typeface="Open Sans"/>
                <a:sym typeface="Open Sans"/>
              </a:rPr>
              <a:t>Sonali Bank PLC</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52642" y="6586303"/>
            <a:ext cx="3068358" cy="2214797"/>
          </a:xfrm>
          <a:custGeom>
            <a:avLst/>
            <a:gdLst/>
            <a:ahLst/>
            <a:cxnLst/>
            <a:rect l="l" t="t" r="r" b="b"/>
            <a:pathLst>
              <a:path w="3068358" h="2214797">
                <a:moveTo>
                  <a:pt x="0" y="0"/>
                </a:moveTo>
                <a:lnTo>
                  <a:pt x="3068358" y="0"/>
                </a:lnTo>
                <a:lnTo>
                  <a:pt x="3068358" y="2214797"/>
                </a:lnTo>
                <a:lnTo>
                  <a:pt x="0" y="221479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0" y="0"/>
            <a:ext cx="5034021" cy="3633648"/>
          </a:xfrm>
          <a:custGeom>
            <a:avLst/>
            <a:gdLst/>
            <a:ahLst/>
            <a:cxnLst/>
            <a:rect l="l" t="t" r="r" b="b"/>
            <a:pathLst>
              <a:path w="5034021" h="3633648">
                <a:moveTo>
                  <a:pt x="5034021" y="3633648"/>
                </a:moveTo>
                <a:lnTo>
                  <a:pt x="0" y="3633648"/>
                </a:lnTo>
                <a:lnTo>
                  <a:pt x="0" y="0"/>
                </a:lnTo>
                <a:lnTo>
                  <a:pt x="5034021" y="0"/>
                </a:lnTo>
                <a:lnTo>
                  <a:pt x="5034021" y="3633648"/>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TextBox 4"/>
          <p:cNvSpPr txBox="1"/>
          <p:nvPr/>
        </p:nvSpPr>
        <p:spPr>
          <a:xfrm>
            <a:off x="5985531" y="1487217"/>
            <a:ext cx="8755359" cy="789321"/>
          </a:xfrm>
          <a:prstGeom prst="rect">
            <a:avLst/>
          </a:prstGeom>
        </p:spPr>
        <p:txBody>
          <a:bodyPr lIns="0" tIns="0" rIns="0" bIns="0" rtlCol="0" anchor="t">
            <a:spAutoFit/>
          </a:bodyPr>
          <a:lstStyle/>
          <a:p>
            <a:pPr algn="r">
              <a:lnSpc>
                <a:spcPts val="6161"/>
              </a:lnSpc>
            </a:pPr>
            <a:r>
              <a:rPr lang="en-US" sz="5501" b="1">
                <a:solidFill>
                  <a:srgbClr val="0097B2"/>
                </a:solidFill>
                <a:latin typeface="League Spartan"/>
                <a:ea typeface="League Spartan"/>
                <a:cs typeface="League Spartan"/>
                <a:sym typeface="League Spartan"/>
              </a:rPr>
              <a:t>INTRODUCTION</a:t>
            </a:r>
          </a:p>
        </p:txBody>
      </p:sp>
      <p:sp>
        <p:nvSpPr>
          <p:cNvPr id="5" name="TextBox 5"/>
          <p:cNvSpPr txBox="1"/>
          <p:nvPr/>
        </p:nvSpPr>
        <p:spPr>
          <a:xfrm>
            <a:off x="880110" y="7502749"/>
            <a:ext cx="3566718" cy="410480"/>
          </a:xfrm>
          <a:prstGeom prst="rect">
            <a:avLst/>
          </a:prstGeom>
        </p:spPr>
        <p:txBody>
          <a:bodyPr lIns="0" tIns="0" rIns="0" bIns="0" rtlCol="0" anchor="t">
            <a:spAutoFit/>
          </a:bodyPr>
          <a:lstStyle/>
          <a:p>
            <a:pPr marL="0" lvl="0" indent="0" algn="r">
              <a:lnSpc>
                <a:spcPts val="3249"/>
              </a:lnSpc>
              <a:spcBef>
                <a:spcPct val="0"/>
              </a:spcBef>
            </a:pPr>
            <a:r>
              <a:rPr lang="en-US" sz="2901" b="1">
                <a:solidFill>
                  <a:srgbClr val="080F3D"/>
                </a:solidFill>
                <a:latin typeface="League Spartan"/>
                <a:ea typeface="League Spartan"/>
                <a:cs typeface="League Spartan"/>
                <a:sym typeface="League Spartan"/>
              </a:rPr>
              <a:t>SONALI BANK PLC</a:t>
            </a:r>
          </a:p>
        </p:txBody>
      </p:sp>
      <p:sp>
        <p:nvSpPr>
          <p:cNvPr id="6" name="TextBox 6"/>
          <p:cNvSpPr txBox="1"/>
          <p:nvPr/>
        </p:nvSpPr>
        <p:spPr>
          <a:xfrm>
            <a:off x="2996413" y="2465641"/>
            <a:ext cx="11621237" cy="5589922"/>
          </a:xfrm>
          <a:prstGeom prst="rect">
            <a:avLst/>
          </a:prstGeom>
        </p:spPr>
        <p:txBody>
          <a:bodyPr lIns="0" tIns="0" rIns="0" bIns="0" rtlCol="0" anchor="t">
            <a:spAutoFit/>
          </a:bodyPr>
          <a:lstStyle/>
          <a:p>
            <a:pPr algn="just">
              <a:lnSpc>
                <a:spcPts val="3744"/>
              </a:lnSpc>
            </a:pPr>
            <a:r>
              <a:rPr lang="en-US" sz="2674">
                <a:solidFill>
                  <a:srgbClr val="080F3D"/>
                </a:solidFill>
                <a:latin typeface="Open Sans"/>
                <a:ea typeface="Open Sans"/>
                <a:cs typeface="Open Sans"/>
                <a:sym typeface="Open Sans"/>
              </a:rPr>
              <a:t>Sonali e-Wallet is a smart banking solution that empowers users to register and manage their toll payments seamlessly. When a vehicle equipped with an Electronic Toll Collection (ETC) system approaches a toll plaza, a payment request is automatically triggered and processed via the Sonali e-Wallet. The system promptly confirms the payment from the customer’s account, ensuring a fast and efficient passage.</a:t>
            </a:r>
          </a:p>
          <a:p>
            <a:pPr algn="just">
              <a:lnSpc>
                <a:spcPts val="3744"/>
              </a:lnSpc>
            </a:pPr>
            <a:endParaRPr/>
          </a:p>
          <a:p>
            <a:pPr algn="just">
              <a:lnSpc>
                <a:spcPts val="3744"/>
              </a:lnSpc>
            </a:pPr>
            <a:r>
              <a:rPr lang="en-US" sz="2674">
                <a:solidFill>
                  <a:srgbClr val="080F3D"/>
                </a:solidFill>
                <a:latin typeface="Open Sans"/>
                <a:ea typeface="Open Sans"/>
                <a:cs typeface="Open Sans"/>
                <a:sym typeface="Open Sans"/>
              </a:rPr>
              <a:t>This integration supports the broader objective of developing a cashless, digital toll infrastructure, while also enhancing customer convenience, operational efficiency, and transactional transparency.</a:t>
            </a:r>
          </a:p>
          <a:p>
            <a:pPr algn="just">
              <a:lnSpc>
                <a:spcPts val="3744"/>
              </a:lnSpc>
            </a:pPr>
            <a:endParaRPr/>
          </a:p>
          <a:p>
            <a:pPr algn="just">
              <a:lnSpc>
                <a:spcPts val="3744"/>
              </a:lnSpc>
            </a:pPr>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52642" y="6586303"/>
            <a:ext cx="3068358" cy="2214797"/>
          </a:xfrm>
          <a:custGeom>
            <a:avLst/>
            <a:gdLst/>
            <a:ahLst/>
            <a:cxnLst/>
            <a:rect l="l" t="t" r="r" b="b"/>
            <a:pathLst>
              <a:path w="3068358" h="2214797">
                <a:moveTo>
                  <a:pt x="0" y="0"/>
                </a:moveTo>
                <a:lnTo>
                  <a:pt x="3068358" y="0"/>
                </a:lnTo>
                <a:lnTo>
                  <a:pt x="3068358" y="2214797"/>
                </a:lnTo>
                <a:lnTo>
                  <a:pt x="0" y="221479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0" y="0"/>
            <a:ext cx="5034021" cy="3633648"/>
          </a:xfrm>
          <a:custGeom>
            <a:avLst/>
            <a:gdLst/>
            <a:ahLst/>
            <a:cxnLst/>
            <a:rect l="l" t="t" r="r" b="b"/>
            <a:pathLst>
              <a:path w="5034021" h="3633648">
                <a:moveTo>
                  <a:pt x="5034021" y="3633648"/>
                </a:moveTo>
                <a:lnTo>
                  <a:pt x="0" y="3633648"/>
                </a:lnTo>
                <a:lnTo>
                  <a:pt x="0" y="0"/>
                </a:lnTo>
                <a:lnTo>
                  <a:pt x="5034021" y="0"/>
                </a:lnTo>
                <a:lnTo>
                  <a:pt x="5034021" y="3633648"/>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TextBox 4"/>
          <p:cNvSpPr txBox="1"/>
          <p:nvPr/>
        </p:nvSpPr>
        <p:spPr>
          <a:xfrm>
            <a:off x="4407397" y="1487217"/>
            <a:ext cx="10333493" cy="789321"/>
          </a:xfrm>
          <a:prstGeom prst="rect">
            <a:avLst/>
          </a:prstGeom>
        </p:spPr>
        <p:txBody>
          <a:bodyPr lIns="0" tIns="0" rIns="0" bIns="0" rtlCol="0" anchor="t">
            <a:spAutoFit/>
          </a:bodyPr>
          <a:lstStyle/>
          <a:p>
            <a:pPr algn="r">
              <a:lnSpc>
                <a:spcPts val="6161"/>
              </a:lnSpc>
            </a:pPr>
            <a:r>
              <a:rPr lang="en-US" sz="5501" b="1">
                <a:solidFill>
                  <a:srgbClr val="0097B2"/>
                </a:solidFill>
                <a:latin typeface="League Spartan"/>
                <a:ea typeface="League Spartan"/>
                <a:cs typeface="League Spartan"/>
                <a:sym typeface="League Spartan"/>
              </a:rPr>
              <a:t>COMMITMENT OF SERVICES</a:t>
            </a:r>
          </a:p>
        </p:txBody>
      </p:sp>
      <p:sp>
        <p:nvSpPr>
          <p:cNvPr id="5" name="TextBox 5"/>
          <p:cNvSpPr txBox="1"/>
          <p:nvPr/>
        </p:nvSpPr>
        <p:spPr>
          <a:xfrm>
            <a:off x="880110" y="7502749"/>
            <a:ext cx="3566718" cy="410480"/>
          </a:xfrm>
          <a:prstGeom prst="rect">
            <a:avLst/>
          </a:prstGeom>
        </p:spPr>
        <p:txBody>
          <a:bodyPr lIns="0" tIns="0" rIns="0" bIns="0" rtlCol="0" anchor="t">
            <a:spAutoFit/>
          </a:bodyPr>
          <a:lstStyle/>
          <a:p>
            <a:pPr marL="0" lvl="0" indent="0" algn="r">
              <a:lnSpc>
                <a:spcPts val="3249"/>
              </a:lnSpc>
              <a:spcBef>
                <a:spcPct val="0"/>
              </a:spcBef>
            </a:pPr>
            <a:r>
              <a:rPr lang="en-US" sz="2901" b="1">
                <a:solidFill>
                  <a:srgbClr val="080F3D"/>
                </a:solidFill>
                <a:latin typeface="League Spartan"/>
                <a:ea typeface="League Spartan"/>
                <a:cs typeface="League Spartan"/>
                <a:sym typeface="League Spartan"/>
              </a:rPr>
              <a:t>SONALI BANK PLC</a:t>
            </a:r>
          </a:p>
        </p:txBody>
      </p:sp>
      <p:sp>
        <p:nvSpPr>
          <p:cNvPr id="6" name="TextBox 6"/>
          <p:cNvSpPr txBox="1"/>
          <p:nvPr/>
        </p:nvSpPr>
        <p:spPr>
          <a:xfrm>
            <a:off x="2996413" y="2465641"/>
            <a:ext cx="11621237" cy="3723022"/>
          </a:xfrm>
          <a:prstGeom prst="rect">
            <a:avLst/>
          </a:prstGeom>
        </p:spPr>
        <p:txBody>
          <a:bodyPr lIns="0" tIns="0" rIns="0" bIns="0" rtlCol="0" anchor="t">
            <a:spAutoFit/>
          </a:bodyPr>
          <a:lstStyle/>
          <a:p>
            <a:pPr algn="just">
              <a:lnSpc>
                <a:spcPts val="3744"/>
              </a:lnSpc>
            </a:pPr>
            <a:r>
              <a:rPr lang="en-US" sz="2674">
                <a:solidFill>
                  <a:srgbClr val="080F3D"/>
                </a:solidFill>
                <a:latin typeface="Open Sans"/>
                <a:ea typeface="Open Sans"/>
                <a:cs typeface="Open Sans"/>
                <a:sym typeface="Open Sans"/>
              </a:rPr>
              <a:t>·      Self-Payment Service of Customers</a:t>
            </a:r>
          </a:p>
          <a:p>
            <a:pPr algn="just">
              <a:lnSpc>
                <a:spcPts val="3744"/>
              </a:lnSpc>
            </a:pPr>
            <a:r>
              <a:rPr lang="en-US" sz="2674">
                <a:solidFill>
                  <a:srgbClr val="080F3D"/>
                </a:solidFill>
                <a:latin typeface="Open Sans"/>
                <a:ea typeface="Open Sans"/>
                <a:cs typeface="Open Sans"/>
                <a:sym typeface="Open Sans"/>
              </a:rPr>
              <a:t>·      24x7 services</a:t>
            </a:r>
          </a:p>
          <a:p>
            <a:pPr algn="just">
              <a:lnSpc>
                <a:spcPts val="3744"/>
              </a:lnSpc>
            </a:pPr>
            <a:r>
              <a:rPr lang="en-US" sz="2674">
                <a:solidFill>
                  <a:srgbClr val="080F3D"/>
                </a:solidFill>
                <a:latin typeface="Open Sans"/>
                <a:ea typeface="Open Sans"/>
                <a:cs typeface="Open Sans"/>
                <a:sym typeface="Open Sans"/>
              </a:rPr>
              <a:t>·      Online &amp; sonali e-wallet</a:t>
            </a:r>
          </a:p>
          <a:p>
            <a:pPr algn="just">
              <a:lnSpc>
                <a:spcPts val="3744"/>
              </a:lnSpc>
            </a:pPr>
            <a:r>
              <a:rPr lang="en-US" sz="2674">
                <a:solidFill>
                  <a:srgbClr val="080F3D"/>
                </a:solidFill>
                <a:latin typeface="Open Sans"/>
                <a:ea typeface="Open Sans"/>
                <a:cs typeface="Open Sans"/>
                <a:sym typeface="Open Sans"/>
              </a:rPr>
              <a:t>·      API based Integrations</a:t>
            </a:r>
          </a:p>
          <a:p>
            <a:pPr algn="just">
              <a:lnSpc>
                <a:spcPts val="3744"/>
              </a:lnSpc>
            </a:pPr>
            <a:r>
              <a:rPr lang="en-US" sz="2674">
                <a:solidFill>
                  <a:srgbClr val="080F3D"/>
                </a:solidFill>
                <a:latin typeface="Open Sans"/>
                <a:ea typeface="Open Sans"/>
                <a:cs typeface="Open Sans"/>
                <a:sym typeface="Open Sans"/>
              </a:rPr>
              <a:t>·      Automatic Reconciliation </a:t>
            </a:r>
          </a:p>
          <a:p>
            <a:pPr algn="just">
              <a:lnSpc>
                <a:spcPts val="3744"/>
              </a:lnSpc>
            </a:pPr>
            <a:r>
              <a:rPr lang="en-US" sz="2674">
                <a:solidFill>
                  <a:srgbClr val="080F3D"/>
                </a:solidFill>
                <a:latin typeface="Open Sans"/>
                <a:ea typeface="Open Sans"/>
                <a:cs typeface="Open Sans"/>
                <a:sym typeface="Open Sans"/>
              </a:rPr>
              <a:t>·      Regular Settlement &amp; confirm a-challan / bank account next day</a:t>
            </a:r>
          </a:p>
          <a:p>
            <a:pPr algn="just">
              <a:lnSpc>
                <a:spcPts val="3744"/>
              </a:lnSpc>
            </a:pPr>
            <a:r>
              <a:rPr lang="en-US" sz="2674">
                <a:solidFill>
                  <a:srgbClr val="080F3D"/>
                </a:solidFill>
                <a:latin typeface="Open Sans"/>
                <a:ea typeface="Open Sans"/>
                <a:cs typeface="Open Sans"/>
                <a:sym typeface="Open Sans"/>
              </a:rPr>
              <a:t>·      Real-time monitoring panel</a:t>
            </a:r>
          </a:p>
          <a:p>
            <a:pPr algn="just">
              <a:lnSpc>
                <a:spcPts val="3744"/>
              </a:lnSpc>
            </a:pPr>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52642" y="6586303"/>
            <a:ext cx="3068358" cy="2214797"/>
          </a:xfrm>
          <a:custGeom>
            <a:avLst/>
            <a:gdLst/>
            <a:ahLst/>
            <a:cxnLst/>
            <a:rect l="l" t="t" r="r" b="b"/>
            <a:pathLst>
              <a:path w="3068358" h="2214797">
                <a:moveTo>
                  <a:pt x="0" y="0"/>
                </a:moveTo>
                <a:lnTo>
                  <a:pt x="3068358" y="0"/>
                </a:lnTo>
                <a:lnTo>
                  <a:pt x="3068358" y="2214797"/>
                </a:lnTo>
                <a:lnTo>
                  <a:pt x="0" y="221479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0" y="0"/>
            <a:ext cx="5034021" cy="3633648"/>
          </a:xfrm>
          <a:custGeom>
            <a:avLst/>
            <a:gdLst/>
            <a:ahLst/>
            <a:cxnLst/>
            <a:rect l="l" t="t" r="r" b="b"/>
            <a:pathLst>
              <a:path w="5034021" h="3633648">
                <a:moveTo>
                  <a:pt x="5034021" y="3633648"/>
                </a:moveTo>
                <a:lnTo>
                  <a:pt x="0" y="3633648"/>
                </a:lnTo>
                <a:lnTo>
                  <a:pt x="0" y="0"/>
                </a:lnTo>
                <a:lnTo>
                  <a:pt x="5034021" y="0"/>
                </a:lnTo>
                <a:lnTo>
                  <a:pt x="5034021" y="3633648"/>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2983921" y="2650915"/>
            <a:ext cx="11269970" cy="4085364"/>
          </a:xfrm>
          <a:custGeom>
            <a:avLst/>
            <a:gdLst/>
            <a:ahLst/>
            <a:cxnLst/>
            <a:rect l="l" t="t" r="r" b="b"/>
            <a:pathLst>
              <a:path w="11269970" h="4085364">
                <a:moveTo>
                  <a:pt x="0" y="0"/>
                </a:moveTo>
                <a:lnTo>
                  <a:pt x="11269969" y="0"/>
                </a:lnTo>
                <a:lnTo>
                  <a:pt x="11269969" y="4085364"/>
                </a:lnTo>
                <a:lnTo>
                  <a:pt x="0" y="4085364"/>
                </a:lnTo>
                <a:lnTo>
                  <a:pt x="0" y="0"/>
                </a:lnTo>
                <a:close/>
              </a:path>
            </a:pathLst>
          </a:custGeom>
          <a:blipFill>
            <a:blip r:embed="rId4"/>
            <a:stretch>
              <a:fillRect/>
            </a:stretch>
          </a:blipFill>
        </p:spPr>
      </p:sp>
      <p:sp>
        <p:nvSpPr>
          <p:cNvPr id="5" name="TextBox 5"/>
          <p:cNvSpPr txBox="1"/>
          <p:nvPr/>
        </p:nvSpPr>
        <p:spPr>
          <a:xfrm>
            <a:off x="4407397" y="1515792"/>
            <a:ext cx="10333493" cy="533924"/>
          </a:xfrm>
          <a:prstGeom prst="rect">
            <a:avLst/>
          </a:prstGeom>
        </p:spPr>
        <p:txBody>
          <a:bodyPr lIns="0" tIns="0" rIns="0" bIns="0" rtlCol="0" anchor="t">
            <a:spAutoFit/>
          </a:bodyPr>
          <a:lstStyle/>
          <a:p>
            <a:pPr algn="r">
              <a:lnSpc>
                <a:spcPts val="4257"/>
              </a:lnSpc>
            </a:pPr>
            <a:r>
              <a:rPr lang="en-US" sz="3801" b="1">
                <a:solidFill>
                  <a:srgbClr val="0097B2"/>
                </a:solidFill>
                <a:latin typeface="League Spartan"/>
                <a:ea typeface="League Spartan"/>
                <a:cs typeface="League Spartan"/>
                <a:sym typeface="League Spartan"/>
              </a:rPr>
              <a:t>INTEGRATION WITH SONALI E-WALLET</a:t>
            </a:r>
          </a:p>
        </p:txBody>
      </p:sp>
      <p:sp>
        <p:nvSpPr>
          <p:cNvPr id="6" name="TextBox 6"/>
          <p:cNvSpPr txBox="1"/>
          <p:nvPr/>
        </p:nvSpPr>
        <p:spPr>
          <a:xfrm>
            <a:off x="880110" y="7510510"/>
            <a:ext cx="3566718" cy="410480"/>
          </a:xfrm>
          <a:prstGeom prst="rect">
            <a:avLst/>
          </a:prstGeom>
        </p:spPr>
        <p:txBody>
          <a:bodyPr lIns="0" tIns="0" rIns="0" bIns="0" rtlCol="0" anchor="t">
            <a:spAutoFit/>
          </a:bodyPr>
          <a:lstStyle/>
          <a:p>
            <a:pPr marL="0" lvl="0" indent="0" algn="r">
              <a:lnSpc>
                <a:spcPts val="3249"/>
              </a:lnSpc>
              <a:spcBef>
                <a:spcPct val="0"/>
              </a:spcBef>
            </a:pPr>
            <a:r>
              <a:rPr lang="en-US" sz="2901" b="1">
                <a:solidFill>
                  <a:srgbClr val="080F3D"/>
                </a:solidFill>
                <a:latin typeface="League Spartan"/>
                <a:ea typeface="League Spartan"/>
                <a:cs typeface="League Spartan"/>
                <a:sym typeface="League Spartan"/>
              </a:rPr>
              <a:t>SONALI BANK PLC</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52642" y="6586303"/>
            <a:ext cx="3068358" cy="2214797"/>
          </a:xfrm>
          <a:custGeom>
            <a:avLst/>
            <a:gdLst/>
            <a:ahLst/>
            <a:cxnLst/>
            <a:rect l="l" t="t" r="r" b="b"/>
            <a:pathLst>
              <a:path w="3068358" h="2214797">
                <a:moveTo>
                  <a:pt x="0" y="0"/>
                </a:moveTo>
                <a:lnTo>
                  <a:pt x="3068358" y="0"/>
                </a:lnTo>
                <a:lnTo>
                  <a:pt x="3068358" y="2214797"/>
                </a:lnTo>
                <a:lnTo>
                  <a:pt x="0" y="221479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0" y="0"/>
            <a:ext cx="5034021" cy="3633648"/>
          </a:xfrm>
          <a:custGeom>
            <a:avLst/>
            <a:gdLst/>
            <a:ahLst/>
            <a:cxnLst/>
            <a:rect l="l" t="t" r="r" b="b"/>
            <a:pathLst>
              <a:path w="5034021" h="3633648">
                <a:moveTo>
                  <a:pt x="5034021" y="3633648"/>
                </a:moveTo>
                <a:lnTo>
                  <a:pt x="0" y="3633648"/>
                </a:lnTo>
                <a:lnTo>
                  <a:pt x="0" y="0"/>
                </a:lnTo>
                <a:lnTo>
                  <a:pt x="5034021" y="0"/>
                </a:lnTo>
                <a:lnTo>
                  <a:pt x="5034021" y="3633648"/>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TextBox 4"/>
          <p:cNvSpPr txBox="1"/>
          <p:nvPr/>
        </p:nvSpPr>
        <p:spPr>
          <a:xfrm>
            <a:off x="4407397" y="1515792"/>
            <a:ext cx="10333493" cy="533924"/>
          </a:xfrm>
          <a:prstGeom prst="rect">
            <a:avLst/>
          </a:prstGeom>
        </p:spPr>
        <p:txBody>
          <a:bodyPr lIns="0" tIns="0" rIns="0" bIns="0" rtlCol="0" anchor="t">
            <a:spAutoFit/>
          </a:bodyPr>
          <a:lstStyle/>
          <a:p>
            <a:pPr algn="r">
              <a:lnSpc>
                <a:spcPts val="4257"/>
              </a:lnSpc>
            </a:pPr>
            <a:r>
              <a:rPr lang="en-US" sz="3801" b="1">
                <a:solidFill>
                  <a:srgbClr val="0097B2"/>
                </a:solidFill>
                <a:latin typeface="League Spartan"/>
                <a:ea typeface="League Spartan"/>
                <a:cs typeface="League Spartan"/>
                <a:sym typeface="League Spartan"/>
              </a:rPr>
              <a:t>STEPS OF FLOW BUSINESS OPERATION</a:t>
            </a:r>
          </a:p>
        </p:txBody>
      </p:sp>
      <p:sp>
        <p:nvSpPr>
          <p:cNvPr id="5" name="TextBox 5"/>
          <p:cNvSpPr txBox="1"/>
          <p:nvPr/>
        </p:nvSpPr>
        <p:spPr>
          <a:xfrm>
            <a:off x="880110" y="7567413"/>
            <a:ext cx="3566718" cy="410480"/>
          </a:xfrm>
          <a:prstGeom prst="rect">
            <a:avLst/>
          </a:prstGeom>
        </p:spPr>
        <p:txBody>
          <a:bodyPr lIns="0" tIns="0" rIns="0" bIns="0" rtlCol="0" anchor="t">
            <a:spAutoFit/>
          </a:bodyPr>
          <a:lstStyle/>
          <a:p>
            <a:pPr marL="0" lvl="0" indent="0" algn="r">
              <a:lnSpc>
                <a:spcPts val="3249"/>
              </a:lnSpc>
              <a:spcBef>
                <a:spcPct val="0"/>
              </a:spcBef>
            </a:pPr>
            <a:r>
              <a:rPr lang="en-US" sz="2901" b="1">
                <a:solidFill>
                  <a:srgbClr val="080F3D"/>
                </a:solidFill>
                <a:latin typeface="League Spartan"/>
                <a:ea typeface="League Spartan"/>
                <a:cs typeface="League Spartan"/>
                <a:sym typeface="League Spartan"/>
              </a:rPr>
              <a:t>SONALI BANK PLC</a:t>
            </a:r>
          </a:p>
        </p:txBody>
      </p:sp>
      <p:sp>
        <p:nvSpPr>
          <p:cNvPr id="6" name="TextBox 6"/>
          <p:cNvSpPr txBox="1"/>
          <p:nvPr/>
        </p:nvSpPr>
        <p:spPr>
          <a:xfrm>
            <a:off x="3009901" y="2217538"/>
            <a:ext cx="11607750" cy="5386090"/>
          </a:xfrm>
          <a:prstGeom prst="rect">
            <a:avLst/>
          </a:prstGeom>
        </p:spPr>
        <p:txBody>
          <a:bodyPr wrap="square" lIns="0" tIns="0" rIns="0" bIns="0" rtlCol="0" anchor="t">
            <a:spAutoFit/>
          </a:bodyPr>
          <a:lstStyle/>
          <a:p>
            <a:pPr algn="just">
              <a:lnSpc>
                <a:spcPts val="2800"/>
              </a:lnSpc>
            </a:pPr>
            <a:r>
              <a:rPr lang="en-US" sz="2000" b="1" dirty="0">
                <a:solidFill>
                  <a:srgbClr val="080F3D"/>
                </a:solidFill>
                <a:latin typeface="Open Sans Bold"/>
                <a:ea typeface="Open Sans Bold"/>
                <a:cs typeface="Open Sans Bold"/>
                <a:sym typeface="Open Sans Bold"/>
              </a:rPr>
              <a:t> Registration:</a:t>
            </a:r>
          </a:p>
          <a:p>
            <a:pPr algn="just">
              <a:lnSpc>
                <a:spcPts val="2800"/>
              </a:lnSpc>
            </a:pPr>
            <a:r>
              <a:rPr lang="en-US" sz="2000" dirty="0">
                <a:solidFill>
                  <a:srgbClr val="080F3D"/>
                </a:solidFill>
                <a:latin typeface="Open Sans"/>
                <a:ea typeface="Open Sans"/>
                <a:cs typeface="Open Sans"/>
                <a:sym typeface="Open Sans"/>
              </a:rPr>
              <a:t>Sonali e-Wallet customers can register to ensure sufficient balance for making toll payments via their Sonali e-Wallet account.</a:t>
            </a:r>
          </a:p>
          <a:p>
            <a:pPr algn="just">
              <a:lnSpc>
                <a:spcPts val="2800"/>
              </a:lnSpc>
            </a:pPr>
            <a:r>
              <a:rPr lang="en-US" sz="2000" dirty="0">
                <a:solidFill>
                  <a:srgbClr val="080F3D"/>
                </a:solidFill>
                <a:latin typeface="Open Sans"/>
                <a:ea typeface="Open Sans"/>
                <a:cs typeface="Open Sans"/>
                <a:sym typeface="Open Sans"/>
              </a:rPr>
              <a:t> </a:t>
            </a:r>
          </a:p>
          <a:p>
            <a:pPr algn="just">
              <a:lnSpc>
                <a:spcPts val="2800"/>
              </a:lnSpc>
            </a:pPr>
            <a:r>
              <a:rPr lang="en-US" sz="2000" b="1" dirty="0">
                <a:solidFill>
                  <a:srgbClr val="080F3D"/>
                </a:solidFill>
                <a:latin typeface="Open Sans Bold"/>
                <a:ea typeface="Open Sans Bold"/>
                <a:cs typeface="Open Sans Bold"/>
                <a:sym typeface="Open Sans Bold"/>
              </a:rPr>
              <a:t> Registration Request Submission:</a:t>
            </a:r>
          </a:p>
          <a:p>
            <a:pPr algn="just">
              <a:lnSpc>
                <a:spcPts val="2800"/>
              </a:lnSpc>
            </a:pPr>
            <a:r>
              <a:rPr lang="en-US" sz="2000" dirty="0">
                <a:solidFill>
                  <a:srgbClr val="080F3D"/>
                </a:solidFill>
                <a:latin typeface="Open Sans"/>
                <a:ea typeface="Open Sans"/>
                <a:cs typeface="Open Sans"/>
                <a:sym typeface="Open Sans"/>
              </a:rPr>
              <a:t>The Sonali e-Wallet system sends the registration request to the ETC Toll Collection System through the Sonali Bank Toll Collection System.</a:t>
            </a:r>
          </a:p>
          <a:p>
            <a:pPr algn="just">
              <a:lnSpc>
                <a:spcPts val="2800"/>
              </a:lnSpc>
            </a:pPr>
            <a:r>
              <a:rPr lang="en-US" sz="2000" dirty="0">
                <a:solidFill>
                  <a:srgbClr val="080F3D"/>
                </a:solidFill>
                <a:latin typeface="Open Sans"/>
                <a:ea typeface="Open Sans"/>
                <a:cs typeface="Open Sans"/>
                <a:sym typeface="Open Sans"/>
              </a:rPr>
              <a:t> </a:t>
            </a:r>
          </a:p>
          <a:p>
            <a:pPr algn="just">
              <a:lnSpc>
                <a:spcPts val="2800"/>
              </a:lnSpc>
            </a:pPr>
            <a:r>
              <a:rPr lang="en-US" sz="2000" dirty="0">
                <a:solidFill>
                  <a:srgbClr val="080F3D"/>
                </a:solidFill>
                <a:latin typeface="Open Sans"/>
                <a:ea typeface="Open Sans"/>
                <a:cs typeface="Open Sans"/>
                <a:sym typeface="Open Sans"/>
              </a:rPr>
              <a:t> a. The system first checks vehicle details.</a:t>
            </a:r>
          </a:p>
          <a:p>
            <a:pPr algn="just">
              <a:lnSpc>
                <a:spcPts val="2800"/>
              </a:lnSpc>
            </a:pPr>
            <a:r>
              <a:rPr lang="en-US" sz="2000" dirty="0">
                <a:solidFill>
                  <a:srgbClr val="080F3D"/>
                </a:solidFill>
                <a:latin typeface="Open Sans"/>
                <a:ea typeface="Open Sans"/>
                <a:cs typeface="Open Sans"/>
                <a:sym typeface="Open Sans"/>
              </a:rPr>
              <a:t> b. Then, it sends the registration request.</a:t>
            </a:r>
          </a:p>
          <a:p>
            <a:pPr algn="just">
              <a:lnSpc>
                <a:spcPts val="2800"/>
              </a:lnSpc>
            </a:pPr>
            <a:r>
              <a:rPr lang="en-US" sz="2000" dirty="0">
                <a:solidFill>
                  <a:srgbClr val="080F3D"/>
                </a:solidFill>
                <a:latin typeface="Open Sans"/>
                <a:ea typeface="Open Sans"/>
                <a:cs typeface="Open Sans"/>
                <a:sym typeface="Open Sans"/>
              </a:rPr>
              <a:t> </a:t>
            </a:r>
          </a:p>
          <a:p>
            <a:pPr algn="just">
              <a:lnSpc>
                <a:spcPts val="2800"/>
              </a:lnSpc>
            </a:pPr>
            <a:r>
              <a:rPr lang="en-US" sz="2000" dirty="0">
                <a:solidFill>
                  <a:srgbClr val="080F3D"/>
                </a:solidFill>
                <a:latin typeface="Open Sans"/>
                <a:ea typeface="Open Sans"/>
                <a:cs typeface="Open Sans"/>
                <a:sym typeface="Open Sans"/>
              </a:rPr>
              <a:t> </a:t>
            </a:r>
            <a:r>
              <a:rPr lang="en-US" sz="2000" b="1" dirty="0">
                <a:solidFill>
                  <a:srgbClr val="080F3D"/>
                </a:solidFill>
                <a:latin typeface="Open Sans Bold"/>
                <a:ea typeface="Open Sans Bold"/>
                <a:cs typeface="Open Sans Bold"/>
                <a:sym typeface="Open Sans Bold"/>
              </a:rPr>
              <a:t>Verification and Confirmation:</a:t>
            </a:r>
          </a:p>
          <a:p>
            <a:pPr algn="just">
              <a:lnSpc>
                <a:spcPts val="2800"/>
              </a:lnSpc>
            </a:pPr>
            <a:r>
              <a:rPr lang="en-US" sz="2000" dirty="0">
                <a:solidFill>
                  <a:srgbClr val="080F3D"/>
                </a:solidFill>
                <a:latin typeface="Open Sans"/>
                <a:ea typeface="Open Sans"/>
                <a:cs typeface="Open Sans"/>
                <a:sym typeface="Open Sans"/>
              </a:rPr>
              <a:t>The ETC Toll Collection System verifies the registration data received from Sonali e-Wallet and confirms the registration to Sonali Bank. </a:t>
            </a:r>
          </a:p>
          <a:p>
            <a:pPr algn="just">
              <a:lnSpc>
                <a:spcPts val="2800"/>
              </a:lnSpc>
            </a:pP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52642" y="6586303"/>
            <a:ext cx="3068358" cy="2214797"/>
          </a:xfrm>
          <a:custGeom>
            <a:avLst/>
            <a:gdLst/>
            <a:ahLst/>
            <a:cxnLst/>
            <a:rect l="l" t="t" r="r" b="b"/>
            <a:pathLst>
              <a:path w="3068358" h="2214797">
                <a:moveTo>
                  <a:pt x="0" y="0"/>
                </a:moveTo>
                <a:lnTo>
                  <a:pt x="3068358" y="0"/>
                </a:lnTo>
                <a:lnTo>
                  <a:pt x="3068358" y="2214797"/>
                </a:lnTo>
                <a:lnTo>
                  <a:pt x="0" y="221479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0" y="0"/>
            <a:ext cx="5034021" cy="3633648"/>
          </a:xfrm>
          <a:custGeom>
            <a:avLst/>
            <a:gdLst/>
            <a:ahLst/>
            <a:cxnLst/>
            <a:rect l="l" t="t" r="r" b="b"/>
            <a:pathLst>
              <a:path w="5034021" h="3633648">
                <a:moveTo>
                  <a:pt x="5034021" y="3633648"/>
                </a:moveTo>
                <a:lnTo>
                  <a:pt x="0" y="3633648"/>
                </a:lnTo>
                <a:lnTo>
                  <a:pt x="0" y="0"/>
                </a:lnTo>
                <a:lnTo>
                  <a:pt x="5034021" y="0"/>
                </a:lnTo>
                <a:lnTo>
                  <a:pt x="5034021" y="3633648"/>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TextBox 4"/>
          <p:cNvSpPr txBox="1"/>
          <p:nvPr/>
        </p:nvSpPr>
        <p:spPr>
          <a:xfrm>
            <a:off x="4407397" y="1515792"/>
            <a:ext cx="10333493" cy="533924"/>
          </a:xfrm>
          <a:prstGeom prst="rect">
            <a:avLst/>
          </a:prstGeom>
        </p:spPr>
        <p:txBody>
          <a:bodyPr lIns="0" tIns="0" rIns="0" bIns="0" rtlCol="0" anchor="t">
            <a:spAutoFit/>
          </a:bodyPr>
          <a:lstStyle/>
          <a:p>
            <a:pPr algn="r">
              <a:lnSpc>
                <a:spcPts val="4257"/>
              </a:lnSpc>
            </a:pPr>
            <a:r>
              <a:rPr lang="en-US" sz="3801" b="1">
                <a:solidFill>
                  <a:srgbClr val="0097B2"/>
                </a:solidFill>
                <a:latin typeface="League Spartan"/>
                <a:ea typeface="League Spartan"/>
                <a:cs typeface="League Spartan"/>
                <a:sym typeface="League Spartan"/>
              </a:rPr>
              <a:t>STEPS OF FLOW BUSINESS OPERATION</a:t>
            </a:r>
          </a:p>
        </p:txBody>
      </p:sp>
      <p:sp>
        <p:nvSpPr>
          <p:cNvPr id="5" name="TextBox 5"/>
          <p:cNvSpPr txBox="1"/>
          <p:nvPr/>
        </p:nvSpPr>
        <p:spPr>
          <a:xfrm>
            <a:off x="880110" y="7502749"/>
            <a:ext cx="3566718" cy="410480"/>
          </a:xfrm>
          <a:prstGeom prst="rect">
            <a:avLst/>
          </a:prstGeom>
        </p:spPr>
        <p:txBody>
          <a:bodyPr lIns="0" tIns="0" rIns="0" bIns="0" rtlCol="0" anchor="t">
            <a:spAutoFit/>
          </a:bodyPr>
          <a:lstStyle/>
          <a:p>
            <a:pPr marL="0" lvl="0" indent="0" algn="r">
              <a:lnSpc>
                <a:spcPts val="3249"/>
              </a:lnSpc>
              <a:spcBef>
                <a:spcPct val="0"/>
              </a:spcBef>
            </a:pPr>
            <a:r>
              <a:rPr lang="en-US" sz="2901" b="1">
                <a:solidFill>
                  <a:srgbClr val="080F3D"/>
                </a:solidFill>
                <a:latin typeface="League Spartan"/>
                <a:ea typeface="League Spartan"/>
                <a:cs typeface="League Spartan"/>
                <a:sym typeface="League Spartan"/>
              </a:rPr>
              <a:t>SONALI BANK PLC</a:t>
            </a:r>
          </a:p>
        </p:txBody>
      </p:sp>
      <p:sp>
        <p:nvSpPr>
          <p:cNvPr id="6" name="TextBox 6"/>
          <p:cNvSpPr txBox="1"/>
          <p:nvPr/>
        </p:nvSpPr>
        <p:spPr>
          <a:xfrm>
            <a:off x="2996413" y="2475166"/>
            <a:ext cx="11621237" cy="4225925"/>
          </a:xfrm>
          <a:prstGeom prst="rect">
            <a:avLst/>
          </a:prstGeom>
        </p:spPr>
        <p:txBody>
          <a:bodyPr lIns="0" tIns="0" rIns="0" bIns="0" rtlCol="0" anchor="t">
            <a:spAutoFit/>
          </a:bodyPr>
          <a:lstStyle/>
          <a:p>
            <a:pPr algn="just">
              <a:lnSpc>
                <a:spcPts val="2800"/>
              </a:lnSpc>
            </a:pPr>
            <a:r>
              <a:rPr lang="en-US" sz="2000" b="1">
                <a:solidFill>
                  <a:srgbClr val="080F3D"/>
                </a:solidFill>
                <a:latin typeface="Open Sans Bold"/>
                <a:ea typeface="Open Sans Bold"/>
                <a:cs typeface="Open Sans Bold"/>
                <a:sym typeface="Open Sans Bold"/>
              </a:rPr>
              <a:t> De-registration (if applicable):</a:t>
            </a:r>
          </a:p>
          <a:p>
            <a:pPr algn="just">
              <a:lnSpc>
                <a:spcPts val="2800"/>
              </a:lnSpc>
            </a:pPr>
            <a:r>
              <a:rPr lang="en-US" sz="2000">
                <a:solidFill>
                  <a:srgbClr val="080F3D"/>
                </a:solidFill>
                <a:latin typeface="Open Sans"/>
                <a:ea typeface="Open Sans"/>
                <a:cs typeface="Open Sans"/>
                <a:sym typeface="Open Sans"/>
              </a:rPr>
              <a:t>If an existing user wants to de-register, the de-registration request is sent from the Sonali e-Wallet system to the ETC Toll Collection System, which then confirms the de-registration.</a:t>
            </a:r>
          </a:p>
          <a:p>
            <a:pPr algn="just">
              <a:lnSpc>
                <a:spcPts val="2800"/>
              </a:lnSpc>
            </a:pPr>
            <a:r>
              <a:rPr lang="en-US" sz="2000">
                <a:solidFill>
                  <a:srgbClr val="080F3D"/>
                </a:solidFill>
                <a:latin typeface="Open Sans"/>
                <a:ea typeface="Open Sans"/>
                <a:cs typeface="Open Sans"/>
                <a:sym typeface="Open Sans"/>
              </a:rPr>
              <a:t> </a:t>
            </a:r>
          </a:p>
          <a:p>
            <a:pPr algn="just">
              <a:lnSpc>
                <a:spcPts val="2800"/>
              </a:lnSpc>
            </a:pPr>
            <a:r>
              <a:rPr lang="en-US" sz="2000" b="1">
                <a:solidFill>
                  <a:srgbClr val="080F3D"/>
                </a:solidFill>
                <a:latin typeface="Open Sans Bold"/>
                <a:ea typeface="Open Sans Bold"/>
                <a:cs typeface="Open Sans Bold"/>
                <a:sym typeface="Open Sans Bold"/>
              </a:rPr>
              <a:t> Toll Passage and Payment Request:</a:t>
            </a:r>
          </a:p>
          <a:p>
            <a:pPr algn="just">
              <a:lnSpc>
                <a:spcPts val="2800"/>
              </a:lnSpc>
            </a:pPr>
            <a:r>
              <a:rPr lang="en-US" sz="2000">
                <a:solidFill>
                  <a:srgbClr val="080F3D"/>
                </a:solidFill>
                <a:latin typeface="Open Sans"/>
                <a:ea typeface="Open Sans"/>
                <a:cs typeface="Open Sans"/>
                <a:sym typeface="Open Sans"/>
              </a:rPr>
              <a:t>When a registered vehicle passes through the toll gate, the ETC Toll Collection System sends a payment request to the Sonali Bank Toll Collection System.</a:t>
            </a:r>
          </a:p>
          <a:p>
            <a:pPr algn="just">
              <a:lnSpc>
                <a:spcPts val="2800"/>
              </a:lnSpc>
            </a:pPr>
            <a:r>
              <a:rPr lang="en-US" sz="2000">
                <a:solidFill>
                  <a:srgbClr val="080F3D"/>
                </a:solidFill>
                <a:latin typeface="Open Sans"/>
                <a:ea typeface="Open Sans"/>
                <a:cs typeface="Open Sans"/>
                <a:sym typeface="Open Sans"/>
              </a:rPr>
              <a:t> </a:t>
            </a:r>
          </a:p>
          <a:p>
            <a:pPr algn="just">
              <a:lnSpc>
                <a:spcPts val="2800"/>
              </a:lnSpc>
            </a:pPr>
            <a:r>
              <a:rPr lang="en-US" sz="2000">
                <a:solidFill>
                  <a:srgbClr val="080F3D"/>
                </a:solidFill>
                <a:latin typeface="Open Sans"/>
                <a:ea typeface="Open Sans"/>
                <a:cs typeface="Open Sans"/>
                <a:sym typeface="Open Sans"/>
              </a:rPr>
              <a:t> </a:t>
            </a:r>
            <a:r>
              <a:rPr lang="en-US" sz="2000" b="1">
                <a:solidFill>
                  <a:srgbClr val="080F3D"/>
                </a:solidFill>
                <a:latin typeface="Open Sans Bold"/>
                <a:ea typeface="Open Sans Bold"/>
                <a:cs typeface="Open Sans Bold"/>
                <a:sym typeface="Open Sans Bold"/>
              </a:rPr>
              <a:t>Payment Confirmation and Vehicle Passage:</a:t>
            </a:r>
          </a:p>
          <a:p>
            <a:pPr algn="just">
              <a:lnSpc>
                <a:spcPts val="2800"/>
              </a:lnSpc>
            </a:pPr>
            <a:r>
              <a:rPr lang="en-US" sz="2000">
                <a:solidFill>
                  <a:srgbClr val="080F3D"/>
                </a:solidFill>
                <a:latin typeface="Open Sans"/>
                <a:ea typeface="Open Sans"/>
                <a:cs typeface="Open Sans"/>
                <a:sym typeface="Open Sans"/>
              </a:rPr>
              <a:t>Sonali Bank confirms the payment to the ETC system. Once confirmed, the ETC system allows the vehicle to pass.</a:t>
            </a:r>
          </a:p>
          <a:p>
            <a:pPr algn="just">
              <a:lnSpc>
                <a:spcPts val="2800"/>
              </a:lnSpc>
            </a:pPr>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52642" y="6586303"/>
            <a:ext cx="3068358" cy="2214797"/>
          </a:xfrm>
          <a:custGeom>
            <a:avLst/>
            <a:gdLst/>
            <a:ahLst/>
            <a:cxnLst/>
            <a:rect l="l" t="t" r="r" b="b"/>
            <a:pathLst>
              <a:path w="3068358" h="2214797">
                <a:moveTo>
                  <a:pt x="0" y="0"/>
                </a:moveTo>
                <a:lnTo>
                  <a:pt x="3068358" y="0"/>
                </a:lnTo>
                <a:lnTo>
                  <a:pt x="3068358" y="2214797"/>
                </a:lnTo>
                <a:lnTo>
                  <a:pt x="0" y="221479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0" y="0"/>
            <a:ext cx="5034021" cy="3633648"/>
          </a:xfrm>
          <a:custGeom>
            <a:avLst/>
            <a:gdLst/>
            <a:ahLst/>
            <a:cxnLst/>
            <a:rect l="l" t="t" r="r" b="b"/>
            <a:pathLst>
              <a:path w="5034021" h="3633648">
                <a:moveTo>
                  <a:pt x="5034021" y="3633648"/>
                </a:moveTo>
                <a:lnTo>
                  <a:pt x="0" y="3633648"/>
                </a:lnTo>
                <a:lnTo>
                  <a:pt x="0" y="0"/>
                </a:lnTo>
                <a:lnTo>
                  <a:pt x="5034021" y="0"/>
                </a:lnTo>
                <a:lnTo>
                  <a:pt x="5034021" y="3633648"/>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TextBox 4"/>
          <p:cNvSpPr txBox="1"/>
          <p:nvPr/>
        </p:nvSpPr>
        <p:spPr>
          <a:xfrm>
            <a:off x="4407397" y="1515792"/>
            <a:ext cx="10333493" cy="533924"/>
          </a:xfrm>
          <a:prstGeom prst="rect">
            <a:avLst/>
          </a:prstGeom>
        </p:spPr>
        <p:txBody>
          <a:bodyPr lIns="0" tIns="0" rIns="0" bIns="0" rtlCol="0" anchor="t">
            <a:spAutoFit/>
          </a:bodyPr>
          <a:lstStyle/>
          <a:p>
            <a:pPr algn="r">
              <a:lnSpc>
                <a:spcPts val="4257"/>
              </a:lnSpc>
            </a:pPr>
            <a:r>
              <a:rPr lang="en-US" sz="3801" b="1">
                <a:solidFill>
                  <a:srgbClr val="0097B2"/>
                </a:solidFill>
                <a:latin typeface="League Spartan"/>
                <a:ea typeface="League Spartan"/>
                <a:cs typeface="League Spartan"/>
                <a:sym typeface="League Spartan"/>
              </a:rPr>
              <a:t>STEPS OF FLOW BUSINESS OPERATION</a:t>
            </a:r>
          </a:p>
        </p:txBody>
      </p:sp>
      <p:sp>
        <p:nvSpPr>
          <p:cNvPr id="5" name="TextBox 5"/>
          <p:cNvSpPr txBox="1"/>
          <p:nvPr/>
        </p:nvSpPr>
        <p:spPr>
          <a:xfrm>
            <a:off x="880110" y="7502749"/>
            <a:ext cx="3566718" cy="410480"/>
          </a:xfrm>
          <a:prstGeom prst="rect">
            <a:avLst/>
          </a:prstGeom>
        </p:spPr>
        <p:txBody>
          <a:bodyPr lIns="0" tIns="0" rIns="0" bIns="0" rtlCol="0" anchor="t">
            <a:spAutoFit/>
          </a:bodyPr>
          <a:lstStyle/>
          <a:p>
            <a:pPr marL="0" lvl="0" indent="0" algn="r">
              <a:lnSpc>
                <a:spcPts val="3249"/>
              </a:lnSpc>
              <a:spcBef>
                <a:spcPct val="0"/>
              </a:spcBef>
            </a:pPr>
            <a:r>
              <a:rPr lang="en-US" sz="2901" b="1">
                <a:solidFill>
                  <a:srgbClr val="080F3D"/>
                </a:solidFill>
                <a:latin typeface="League Spartan"/>
                <a:ea typeface="League Spartan"/>
                <a:cs typeface="League Spartan"/>
                <a:sym typeface="League Spartan"/>
              </a:rPr>
              <a:t>SONALI BANK PLC</a:t>
            </a:r>
          </a:p>
        </p:txBody>
      </p:sp>
      <p:sp>
        <p:nvSpPr>
          <p:cNvPr id="6" name="TextBox 6"/>
          <p:cNvSpPr txBox="1"/>
          <p:nvPr/>
        </p:nvSpPr>
        <p:spPr>
          <a:xfrm>
            <a:off x="2996413" y="2475166"/>
            <a:ext cx="11621237" cy="3521075"/>
          </a:xfrm>
          <a:prstGeom prst="rect">
            <a:avLst/>
          </a:prstGeom>
        </p:spPr>
        <p:txBody>
          <a:bodyPr lIns="0" tIns="0" rIns="0" bIns="0" rtlCol="0" anchor="t">
            <a:spAutoFit/>
          </a:bodyPr>
          <a:lstStyle/>
          <a:p>
            <a:pPr algn="just">
              <a:lnSpc>
                <a:spcPts val="2800"/>
              </a:lnSpc>
            </a:pPr>
            <a:r>
              <a:rPr lang="en-US" sz="2000" b="1">
                <a:solidFill>
                  <a:srgbClr val="080F3D"/>
                </a:solidFill>
                <a:latin typeface="Open Sans Bold"/>
                <a:ea typeface="Open Sans Bold"/>
                <a:cs typeface="Open Sans Bold"/>
                <a:sym typeface="Open Sans Bold"/>
              </a:rPr>
              <a:t> Settlement and Reconciliation (T+1):</a:t>
            </a:r>
          </a:p>
          <a:p>
            <a:pPr algn="just">
              <a:lnSpc>
                <a:spcPts val="2800"/>
              </a:lnSpc>
            </a:pPr>
            <a:r>
              <a:rPr lang="en-US" sz="2000">
                <a:solidFill>
                  <a:srgbClr val="080F3D"/>
                </a:solidFill>
                <a:latin typeface="Open Sans"/>
                <a:ea typeface="Open Sans"/>
                <a:cs typeface="Open Sans"/>
                <a:sym typeface="Open Sans"/>
              </a:rPr>
              <a:t>On the next business day (T+1), Sonali Bank reconciles all transactions with the ETC Toll Collection System for the previous day and completes settlement. Upon completion, Sonali Bank transfers the funds to the ETC Collection Bank Account via BEFTN or A-Challan.</a:t>
            </a:r>
          </a:p>
          <a:p>
            <a:pPr algn="just">
              <a:lnSpc>
                <a:spcPts val="2800"/>
              </a:lnSpc>
            </a:pPr>
            <a:r>
              <a:rPr lang="en-US" sz="2000">
                <a:solidFill>
                  <a:srgbClr val="080F3D"/>
                </a:solidFill>
                <a:latin typeface="Open Sans"/>
                <a:ea typeface="Open Sans"/>
                <a:cs typeface="Open Sans"/>
                <a:sym typeface="Open Sans"/>
              </a:rPr>
              <a:t> </a:t>
            </a:r>
          </a:p>
          <a:p>
            <a:pPr algn="just">
              <a:lnSpc>
                <a:spcPts val="2800"/>
              </a:lnSpc>
            </a:pPr>
            <a:r>
              <a:rPr lang="en-US" sz="2000" b="1">
                <a:solidFill>
                  <a:srgbClr val="080F3D"/>
                </a:solidFill>
                <a:latin typeface="Open Sans Bold"/>
                <a:ea typeface="Open Sans Bold"/>
                <a:cs typeface="Open Sans Bold"/>
                <a:sym typeface="Open Sans Bold"/>
              </a:rPr>
              <a:t> Transaction Reversal:</a:t>
            </a:r>
          </a:p>
          <a:p>
            <a:pPr algn="just">
              <a:lnSpc>
                <a:spcPts val="2800"/>
              </a:lnSpc>
            </a:pPr>
            <a:r>
              <a:rPr lang="en-US" sz="2000">
                <a:solidFill>
                  <a:srgbClr val="080F3D"/>
                </a:solidFill>
                <a:latin typeface="Open Sans"/>
                <a:ea typeface="Open Sans"/>
                <a:cs typeface="Open Sans"/>
                <a:sym typeface="Open Sans"/>
              </a:rPr>
              <a:t>If any transaction needs to be reversed, the ETC Toll System sends a reversal request to the Sonali Bank Toll Collection System. Sonali e-Wallet verifies the request and confirms the reversal accordingly.</a:t>
            </a:r>
          </a:p>
          <a:p>
            <a:pPr algn="just">
              <a:lnSpc>
                <a:spcPts val="2800"/>
              </a:lnSpc>
            </a:pPr>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52642" y="6586303"/>
            <a:ext cx="3068358" cy="2214797"/>
          </a:xfrm>
          <a:custGeom>
            <a:avLst/>
            <a:gdLst/>
            <a:ahLst/>
            <a:cxnLst/>
            <a:rect l="l" t="t" r="r" b="b"/>
            <a:pathLst>
              <a:path w="3068358" h="2214797">
                <a:moveTo>
                  <a:pt x="0" y="0"/>
                </a:moveTo>
                <a:lnTo>
                  <a:pt x="3068358" y="0"/>
                </a:lnTo>
                <a:lnTo>
                  <a:pt x="3068358" y="2214797"/>
                </a:lnTo>
                <a:lnTo>
                  <a:pt x="0" y="221479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0" y="0"/>
            <a:ext cx="5034021" cy="3633648"/>
          </a:xfrm>
          <a:custGeom>
            <a:avLst/>
            <a:gdLst/>
            <a:ahLst/>
            <a:cxnLst/>
            <a:rect l="l" t="t" r="r" b="b"/>
            <a:pathLst>
              <a:path w="5034021" h="3633648">
                <a:moveTo>
                  <a:pt x="5034021" y="3633648"/>
                </a:moveTo>
                <a:lnTo>
                  <a:pt x="0" y="3633648"/>
                </a:lnTo>
                <a:lnTo>
                  <a:pt x="0" y="0"/>
                </a:lnTo>
                <a:lnTo>
                  <a:pt x="5034021" y="0"/>
                </a:lnTo>
                <a:lnTo>
                  <a:pt x="5034021" y="3633648"/>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2752248" y="2211641"/>
            <a:ext cx="11005637" cy="6045266"/>
          </a:xfrm>
          <a:custGeom>
            <a:avLst/>
            <a:gdLst/>
            <a:ahLst/>
            <a:cxnLst/>
            <a:rect l="l" t="t" r="r" b="b"/>
            <a:pathLst>
              <a:path w="11005637" h="6045266">
                <a:moveTo>
                  <a:pt x="0" y="0"/>
                </a:moveTo>
                <a:lnTo>
                  <a:pt x="11005637" y="0"/>
                </a:lnTo>
                <a:lnTo>
                  <a:pt x="11005637" y="6045266"/>
                </a:lnTo>
                <a:lnTo>
                  <a:pt x="0" y="6045266"/>
                </a:lnTo>
                <a:lnTo>
                  <a:pt x="0" y="0"/>
                </a:lnTo>
                <a:close/>
              </a:path>
            </a:pathLst>
          </a:custGeom>
          <a:blipFill>
            <a:blip r:embed="rId4"/>
            <a:stretch>
              <a:fillRect t="-19684" b="-20194"/>
            </a:stretch>
          </a:blipFill>
        </p:spPr>
      </p:sp>
      <p:sp>
        <p:nvSpPr>
          <p:cNvPr id="5" name="TextBox 5"/>
          <p:cNvSpPr txBox="1"/>
          <p:nvPr/>
        </p:nvSpPr>
        <p:spPr>
          <a:xfrm>
            <a:off x="4407397" y="1515792"/>
            <a:ext cx="10333493" cy="533924"/>
          </a:xfrm>
          <a:prstGeom prst="rect">
            <a:avLst/>
          </a:prstGeom>
        </p:spPr>
        <p:txBody>
          <a:bodyPr lIns="0" tIns="0" rIns="0" bIns="0" rtlCol="0" anchor="t">
            <a:spAutoFit/>
          </a:bodyPr>
          <a:lstStyle/>
          <a:p>
            <a:pPr algn="r">
              <a:lnSpc>
                <a:spcPts val="4257"/>
              </a:lnSpc>
            </a:pPr>
            <a:r>
              <a:rPr lang="en-US" sz="3801" b="1">
                <a:solidFill>
                  <a:srgbClr val="0097B2"/>
                </a:solidFill>
                <a:latin typeface="League Spartan"/>
                <a:ea typeface="League Spartan"/>
                <a:cs typeface="League Spartan"/>
                <a:sym typeface="League Spartan"/>
              </a:rPr>
              <a:t>STEPS OF FLOW SEQUENTIAL DIAGRAM</a:t>
            </a:r>
          </a:p>
        </p:txBody>
      </p:sp>
      <p:sp>
        <p:nvSpPr>
          <p:cNvPr id="6" name="TextBox 6"/>
          <p:cNvSpPr txBox="1"/>
          <p:nvPr/>
        </p:nvSpPr>
        <p:spPr>
          <a:xfrm>
            <a:off x="880110" y="7445146"/>
            <a:ext cx="3566718" cy="410480"/>
          </a:xfrm>
          <a:prstGeom prst="rect">
            <a:avLst/>
          </a:prstGeom>
        </p:spPr>
        <p:txBody>
          <a:bodyPr lIns="0" tIns="0" rIns="0" bIns="0" rtlCol="0" anchor="t">
            <a:spAutoFit/>
          </a:bodyPr>
          <a:lstStyle/>
          <a:p>
            <a:pPr marL="0" lvl="0" indent="0" algn="r">
              <a:lnSpc>
                <a:spcPts val="3249"/>
              </a:lnSpc>
              <a:spcBef>
                <a:spcPct val="0"/>
              </a:spcBef>
            </a:pPr>
            <a:r>
              <a:rPr lang="en-US" sz="2901" b="1">
                <a:solidFill>
                  <a:srgbClr val="080F3D"/>
                </a:solidFill>
                <a:latin typeface="League Spartan"/>
                <a:ea typeface="League Spartan"/>
                <a:cs typeface="League Spartan"/>
                <a:sym typeface="League Spartan"/>
              </a:rPr>
              <a:t>SONALI BANK PLC</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52642" y="6586303"/>
            <a:ext cx="3068358" cy="2214797"/>
          </a:xfrm>
          <a:custGeom>
            <a:avLst/>
            <a:gdLst/>
            <a:ahLst/>
            <a:cxnLst/>
            <a:rect l="l" t="t" r="r" b="b"/>
            <a:pathLst>
              <a:path w="3068358" h="2214797">
                <a:moveTo>
                  <a:pt x="0" y="0"/>
                </a:moveTo>
                <a:lnTo>
                  <a:pt x="3068358" y="0"/>
                </a:lnTo>
                <a:lnTo>
                  <a:pt x="3068358" y="2214797"/>
                </a:lnTo>
                <a:lnTo>
                  <a:pt x="0" y="221479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0" y="0"/>
            <a:ext cx="5034021" cy="3633648"/>
          </a:xfrm>
          <a:custGeom>
            <a:avLst/>
            <a:gdLst/>
            <a:ahLst/>
            <a:cxnLst/>
            <a:rect l="l" t="t" r="r" b="b"/>
            <a:pathLst>
              <a:path w="5034021" h="3633648">
                <a:moveTo>
                  <a:pt x="5034021" y="3633648"/>
                </a:moveTo>
                <a:lnTo>
                  <a:pt x="0" y="3633648"/>
                </a:lnTo>
                <a:lnTo>
                  <a:pt x="0" y="0"/>
                </a:lnTo>
                <a:lnTo>
                  <a:pt x="5034021" y="0"/>
                </a:lnTo>
                <a:lnTo>
                  <a:pt x="5034021" y="3633648"/>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TextBox 4"/>
          <p:cNvSpPr txBox="1"/>
          <p:nvPr/>
        </p:nvSpPr>
        <p:spPr>
          <a:xfrm>
            <a:off x="4407397" y="1515792"/>
            <a:ext cx="10333493" cy="533924"/>
          </a:xfrm>
          <a:prstGeom prst="rect">
            <a:avLst/>
          </a:prstGeom>
        </p:spPr>
        <p:txBody>
          <a:bodyPr lIns="0" tIns="0" rIns="0" bIns="0" rtlCol="0" anchor="t">
            <a:spAutoFit/>
          </a:bodyPr>
          <a:lstStyle/>
          <a:p>
            <a:pPr algn="r">
              <a:lnSpc>
                <a:spcPts val="4257"/>
              </a:lnSpc>
            </a:pPr>
            <a:r>
              <a:rPr lang="en-US" sz="3801" b="1">
                <a:solidFill>
                  <a:srgbClr val="0097B2"/>
                </a:solidFill>
                <a:latin typeface="League Spartan"/>
                <a:ea typeface="League Spartan"/>
                <a:cs typeface="League Spartan"/>
                <a:sym typeface="League Spartan"/>
              </a:rPr>
              <a:t>TECHNICAL STRENGTH </a:t>
            </a:r>
          </a:p>
        </p:txBody>
      </p:sp>
      <p:sp>
        <p:nvSpPr>
          <p:cNvPr id="5" name="TextBox 5"/>
          <p:cNvSpPr txBox="1"/>
          <p:nvPr/>
        </p:nvSpPr>
        <p:spPr>
          <a:xfrm>
            <a:off x="880110" y="7502749"/>
            <a:ext cx="3566718" cy="410480"/>
          </a:xfrm>
          <a:prstGeom prst="rect">
            <a:avLst/>
          </a:prstGeom>
        </p:spPr>
        <p:txBody>
          <a:bodyPr lIns="0" tIns="0" rIns="0" bIns="0" rtlCol="0" anchor="t">
            <a:spAutoFit/>
          </a:bodyPr>
          <a:lstStyle/>
          <a:p>
            <a:pPr marL="0" lvl="0" indent="0" algn="r">
              <a:lnSpc>
                <a:spcPts val="3249"/>
              </a:lnSpc>
              <a:spcBef>
                <a:spcPct val="0"/>
              </a:spcBef>
            </a:pPr>
            <a:r>
              <a:rPr lang="en-US" sz="2901" b="1">
                <a:solidFill>
                  <a:srgbClr val="080F3D"/>
                </a:solidFill>
                <a:latin typeface="League Spartan"/>
                <a:ea typeface="League Spartan"/>
                <a:cs typeface="League Spartan"/>
                <a:sym typeface="League Spartan"/>
              </a:rPr>
              <a:t>SONALI BANK PLC</a:t>
            </a:r>
          </a:p>
        </p:txBody>
      </p:sp>
      <p:sp>
        <p:nvSpPr>
          <p:cNvPr id="6" name="TextBox 6"/>
          <p:cNvSpPr txBox="1"/>
          <p:nvPr/>
        </p:nvSpPr>
        <p:spPr>
          <a:xfrm>
            <a:off x="5034021" y="2083477"/>
            <a:ext cx="9706869" cy="6543675"/>
          </a:xfrm>
          <a:prstGeom prst="rect">
            <a:avLst/>
          </a:prstGeom>
        </p:spPr>
        <p:txBody>
          <a:bodyPr lIns="0" tIns="0" rIns="0" bIns="0" rtlCol="0" anchor="t">
            <a:spAutoFit/>
          </a:bodyPr>
          <a:lstStyle/>
          <a:p>
            <a:pPr marL="690877" lvl="1" indent="-345439" algn="just">
              <a:lnSpc>
                <a:spcPts val="5279"/>
              </a:lnSpc>
              <a:buFont typeface="Arial"/>
              <a:buChar char="•"/>
            </a:pPr>
            <a:r>
              <a:rPr lang="en-US" sz="3199">
                <a:solidFill>
                  <a:srgbClr val="080F3D"/>
                </a:solidFill>
                <a:latin typeface="Open Sans"/>
                <a:ea typeface="Open Sans"/>
                <a:cs typeface="Open Sans"/>
                <a:sym typeface="Open Sans"/>
              </a:rPr>
              <a:t>High- Availability </a:t>
            </a:r>
          </a:p>
          <a:p>
            <a:pPr marL="690877" lvl="1" indent="-345439" algn="just">
              <a:lnSpc>
                <a:spcPts val="5279"/>
              </a:lnSpc>
              <a:buFont typeface="Arial"/>
              <a:buChar char="•"/>
            </a:pPr>
            <a:r>
              <a:rPr lang="en-US" sz="3199">
                <a:solidFill>
                  <a:srgbClr val="080F3D"/>
                </a:solidFill>
                <a:latin typeface="Open Sans"/>
                <a:ea typeface="Open Sans"/>
                <a:cs typeface="Open Sans"/>
                <a:sym typeface="Open Sans"/>
              </a:rPr>
              <a:t>Load Balancers </a:t>
            </a:r>
          </a:p>
          <a:p>
            <a:pPr marL="690877" lvl="1" indent="-345439" algn="just">
              <a:lnSpc>
                <a:spcPts val="5279"/>
              </a:lnSpc>
              <a:buFont typeface="Arial"/>
              <a:buChar char="•"/>
            </a:pPr>
            <a:r>
              <a:rPr lang="en-US" sz="3199">
                <a:solidFill>
                  <a:srgbClr val="080F3D"/>
                </a:solidFill>
                <a:latin typeface="Open Sans"/>
                <a:ea typeface="Open Sans"/>
                <a:cs typeface="Open Sans"/>
                <a:sym typeface="Open Sans"/>
              </a:rPr>
              <a:t>WAF</a:t>
            </a:r>
          </a:p>
          <a:p>
            <a:pPr marL="690877" lvl="1" indent="-345439" algn="just">
              <a:lnSpc>
                <a:spcPts val="5279"/>
              </a:lnSpc>
              <a:buFont typeface="Arial"/>
              <a:buChar char="•"/>
            </a:pPr>
            <a:r>
              <a:rPr lang="en-US" sz="3199">
                <a:solidFill>
                  <a:srgbClr val="080F3D"/>
                </a:solidFill>
                <a:latin typeface="Open Sans"/>
                <a:ea typeface="Open Sans"/>
                <a:cs typeface="Open Sans"/>
                <a:sym typeface="Open Sans"/>
              </a:rPr>
              <a:t>REST API Integration</a:t>
            </a:r>
          </a:p>
          <a:p>
            <a:pPr marL="690877" lvl="1" indent="-345439" algn="just">
              <a:lnSpc>
                <a:spcPts val="5279"/>
              </a:lnSpc>
              <a:buFont typeface="Arial"/>
              <a:buChar char="•"/>
            </a:pPr>
            <a:r>
              <a:rPr lang="en-US" sz="3199">
                <a:solidFill>
                  <a:srgbClr val="080F3D"/>
                </a:solidFill>
                <a:latin typeface="Open Sans"/>
                <a:ea typeface="Open Sans"/>
                <a:cs typeface="Open Sans"/>
                <a:sym typeface="Open Sans"/>
              </a:rPr>
              <a:t> Web-based Applications</a:t>
            </a:r>
          </a:p>
          <a:p>
            <a:pPr marL="690877" lvl="1" indent="-345439" algn="just">
              <a:lnSpc>
                <a:spcPts val="5279"/>
              </a:lnSpc>
              <a:buFont typeface="Arial"/>
              <a:buChar char="•"/>
            </a:pPr>
            <a:r>
              <a:rPr lang="en-US" sz="3199">
                <a:solidFill>
                  <a:srgbClr val="080F3D"/>
                </a:solidFill>
                <a:latin typeface="Open Sans"/>
                <a:ea typeface="Open Sans"/>
                <a:cs typeface="Open Sans"/>
                <a:sym typeface="Open Sans"/>
              </a:rPr>
              <a:t>Directly API based integrations </a:t>
            </a:r>
          </a:p>
          <a:p>
            <a:pPr marL="690877" lvl="1" indent="-345439" algn="just">
              <a:lnSpc>
                <a:spcPts val="5279"/>
              </a:lnSpc>
              <a:buFont typeface="Arial"/>
              <a:buChar char="•"/>
            </a:pPr>
            <a:r>
              <a:rPr lang="en-US" sz="3199">
                <a:solidFill>
                  <a:srgbClr val="080F3D"/>
                </a:solidFill>
                <a:latin typeface="Open Sans"/>
                <a:ea typeface="Open Sans"/>
                <a:cs typeface="Open Sans"/>
                <a:sym typeface="Open Sans"/>
              </a:rPr>
              <a:t>Automated Settlement &amp; Reconciliation</a:t>
            </a:r>
          </a:p>
          <a:p>
            <a:pPr marL="690877" lvl="1" indent="-345439" algn="just">
              <a:lnSpc>
                <a:spcPts val="5279"/>
              </a:lnSpc>
              <a:buFont typeface="Arial"/>
              <a:buChar char="•"/>
            </a:pPr>
            <a:r>
              <a:rPr lang="en-US" sz="3199">
                <a:solidFill>
                  <a:srgbClr val="080F3D"/>
                </a:solidFill>
                <a:latin typeface="Open Sans"/>
                <a:ea typeface="Open Sans"/>
                <a:cs typeface="Open Sans"/>
                <a:sym typeface="Open Sans"/>
              </a:rPr>
              <a:t>VPN Connectivity</a:t>
            </a:r>
          </a:p>
          <a:p>
            <a:pPr marL="690877" lvl="1" indent="-345439" algn="just">
              <a:lnSpc>
                <a:spcPts val="5279"/>
              </a:lnSpc>
              <a:buFont typeface="Arial"/>
              <a:buChar char="•"/>
            </a:pPr>
            <a:r>
              <a:rPr lang="en-US" sz="3199">
                <a:solidFill>
                  <a:srgbClr val="080F3D"/>
                </a:solidFill>
                <a:latin typeface="Open Sans"/>
                <a:ea typeface="Open Sans"/>
                <a:cs typeface="Open Sans"/>
                <a:sym typeface="Open Sans"/>
              </a:rPr>
              <a:t>24x7 Customer Care</a:t>
            </a:r>
          </a:p>
          <a:p>
            <a:pPr algn="just">
              <a:lnSpc>
                <a:spcPts val="4619"/>
              </a:lnSpc>
            </a:pPr>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52642" y="6586303"/>
            <a:ext cx="3068358" cy="2214797"/>
          </a:xfrm>
          <a:custGeom>
            <a:avLst/>
            <a:gdLst/>
            <a:ahLst/>
            <a:cxnLst/>
            <a:rect l="l" t="t" r="r" b="b"/>
            <a:pathLst>
              <a:path w="3068358" h="2214797">
                <a:moveTo>
                  <a:pt x="0" y="0"/>
                </a:moveTo>
                <a:lnTo>
                  <a:pt x="3068358" y="0"/>
                </a:lnTo>
                <a:lnTo>
                  <a:pt x="3068358" y="2214797"/>
                </a:lnTo>
                <a:lnTo>
                  <a:pt x="0" y="221479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0" y="0"/>
            <a:ext cx="5034021" cy="3633648"/>
          </a:xfrm>
          <a:custGeom>
            <a:avLst/>
            <a:gdLst/>
            <a:ahLst/>
            <a:cxnLst/>
            <a:rect l="l" t="t" r="r" b="b"/>
            <a:pathLst>
              <a:path w="5034021" h="3633648">
                <a:moveTo>
                  <a:pt x="5034021" y="3633648"/>
                </a:moveTo>
                <a:lnTo>
                  <a:pt x="0" y="3633648"/>
                </a:lnTo>
                <a:lnTo>
                  <a:pt x="0" y="0"/>
                </a:lnTo>
                <a:lnTo>
                  <a:pt x="5034021" y="0"/>
                </a:lnTo>
                <a:lnTo>
                  <a:pt x="5034021" y="3633648"/>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TextBox 4"/>
          <p:cNvSpPr txBox="1"/>
          <p:nvPr/>
        </p:nvSpPr>
        <p:spPr>
          <a:xfrm>
            <a:off x="4407397" y="1515792"/>
            <a:ext cx="10333493" cy="533924"/>
          </a:xfrm>
          <a:prstGeom prst="rect">
            <a:avLst/>
          </a:prstGeom>
        </p:spPr>
        <p:txBody>
          <a:bodyPr lIns="0" tIns="0" rIns="0" bIns="0" rtlCol="0" anchor="t">
            <a:spAutoFit/>
          </a:bodyPr>
          <a:lstStyle/>
          <a:p>
            <a:pPr algn="r">
              <a:lnSpc>
                <a:spcPts val="4257"/>
              </a:lnSpc>
            </a:pPr>
            <a:r>
              <a:rPr lang="en-US" sz="3801" b="1">
                <a:solidFill>
                  <a:srgbClr val="0097B2"/>
                </a:solidFill>
                <a:latin typeface="League Spartan"/>
                <a:ea typeface="League Spartan"/>
                <a:cs typeface="League Spartan"/>
                <a:sym typeface="League Spartan"/>
              </a:rPr>
              <a:t>RECONCILIATION WITH ETC SYSTEM</a:t>
            </a:r>
          </a:p>
        </p:txBody>
      </p:sp>
      <p:sp>
        <p:nvSpPr>
          <p:cNvPr id="5" name="TextBox 5"/>
          <p:cNvSpPr txBox="1"/>
          <p:nvPr/>
        </p:nvSpPr>
        <p:spPr>
          <a:xfrm>
            <a:off x="880110" y="7525929"/>
            <a:ext cx="3566718" cy="410480"/>
          </a:xfrm>
          <a:prstGeom prst="rect">
            <a:avLst/>
          </a:prstGeom>
        </p:spPr>
        <p:txBody>
          <a:bodyPr lIns="0" tIns="0" rIns="0" bIns="0" rtlCol="0" anchor="t">
            <a:spAutoFit/>
          </a:bodyPr>
          <a:lstStyle/>
          <a:p>
            <a:pPr marL="0" lvl="0" indent="0" algn="r">
              <a:lnSpc>
                <a:spcPts val="3249"/>
              </a:lnSpc>
              <a:spcBef>
                <a:spcPct val="0"/>
              </a:spcBef>
            </a:pPr>
            <a:r>
              <a:rPr lang="en-US" sz="2901" b="1">
                <a:solidFill>
                  <a:srgbClr val="080F3D"/>
                </a:solidFill>
                <a:latin typeface="League Spartan"/>
                <a:ea typeface="League Spartan"/>
                <a:cs typeface="League Spartan"/>
                <a:sym typeface="League Spartan"/>
              </a:rPr>
              <a:t>SONALI BANK PLC</a:t>
            </a:r>
          </a:p>
        </p:txBody>
      </p:sp>
      <p:sp>
        <p:nvSpPr>
          <p:cNvPr id="6" name="TextBox 6"/>
          <p:cNvSpPr txBox="1"/>
          <p:nvPr/>
        </p:nvSpPr>
        <p:spPr>
          <a:xfrm>
            <a:off x="3119653" y="2504348"/>
            <a:ext cx="11621237" cy="4993006"/>
          </a:xfrm>
          <a:prstGeom prst="rect">
            <a:avLst/>
          </a:prstGeom>
        </p:spPr>
        <p:txBody>
          <a:bodyPr lIns="0" tIns="0" rIns="0" bIns="0" rtlCol="0" anchor="t">
            <a:spAutoFit/>
          </a:bodyPr>
          <a:lstStyle/>
          <a:p>
            <a:pPr marL="690877" lvl="1" indent="-345439" algn="just">
              <a:lnSpc>
                <a:spcPts val="5823"/>
              </a:lnSpc>
              <a:buFont typeface="Arial"/>
              <a:buChar char="•"/>
            </a:pPr>
            <a:r>
              <a:rPr lang="en-US" sz="3199">
                <a:solidFill>
                  <a:srgbClr val="080F3D"/>
                </a:solidFill>
                <a:latin typeface="Open Sans"/>
                <a:ea typeface="Open Sans"/>
                <a:cs typeface="Open Sans"/>
                <a:sym typeface="Open Sans"/>
              </a:rPr>
              <a:t>Registration and payment transaction through REST API</a:t>
            </a:r>
          </a:p>
          <a:p>
            <a:pPr marL="690877" lvl="1" indent="-345439" algn="just">
              <a:lnSpc>
                <a:spcPts val="5823"/>
              </a:lnSpc>
              <a:buFont typeface="Arial"/>
              <a:buChar char="•"/>
            </a:pPr>
            <a:r>
              <a:rPr lang="en-US" sz="3199">
                <a:solidFill>
                  <a:srgbClr val="080F3D"/>
                </a:solidFill>
                <a:latin typeface="Open Sans"/>
                <a:ea typeface="Open Sans"/>
                <a:cs typeface="Open Sans"/>
                <a:sym typeface="Open Sans"/>
              </a:rPr>
              <a:t>Network connectivity (VPN/ IP white list)</a:t>
            </a:r>
          </a:p>
          <a:p>
            <a:pPr marL="690877" lvl="1" indent="-345439" algn="just">
              <a:lnSpc>
                <a:spcPts val="5823"/>
              </a:lnSpc>
              <a:buFont typeface="Arial"/>
              <a:buChar char="•"/>
            </a:pPr>
            <a:r>
              <a:rPr lang="en-US" sz="3199">
                <a:solidFill>
                  <a:srgbClr val="080F3D"/>
                </a:solidFill>
                <a:latin typeface="Open Sans"/>
                <a:ea typeface="Open Sans"/>
                <a:cs typeface="Open Sans"/>
                <a:sym typeface="Open Sans"/>
              </a:rPr>
              <a:t>Reconciliation- by shared csv file shared by sftp/portal through VPN/over the.</a:t>
            </a:r>
          </a:p>
          <a:p>
            <a:pPr marL="690877" lvl="1" indent="-345439" algn="just">
              <a:lnSpc>
                <a:spcPts val="5823"/>
              </a:lnSpc>
              <a:buFont typeface="Arial"/>
              <a:buChar char="•"/>
            </a:pPr>
            <a:r>
              <a:rPr lang="en-US" sz="3199">
                <a:solidFill>
                  <a:srgbClr val="080F3D"/>
                </a:solidFill>
                <a:latin typeface="Open Sans"/>
                <a:ea typeface="Open Sans"/>
                <a:cs typeface="Open Sans"/>
                <a:sym typeface="Open Sans"/>
              </a:rPr>
              <a:t>Daily fund settlement completed t+1 through BEFTN/a-Challan</a:t>
            </a:r>
          </a:p>
          <a:p>
            <a:pPr algn="just">
              <a:lnSpc>
                <a:spcPts val="5095"/>
              </a:lnSpc>
            </a:pPr>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52642" y="6586303"/>
            <a:ext cx="3068358" cy="2214797"/>
          </a:xfrm>
          <a:custGeom>
            <a:avLst/>
            <a:gdLst/>
            <a:ahLst/>
            <a:cxnLst/>
            <a:rect l="l" t="t" r="r" b="b"/>
            <a:pathLst>
              <a:path w="3068358" h="2214797">
                <a:moveTo>
                  <a:pt x="0" y="0"/>
                </a:moveTo>
                <a:lnTo>
                  <a:pt x="3068358" y="0"/>
                </a:lnTo>
                <a:lnTo>
                  <a:pt x="3068358" y="2214797"/>
                </a:lnTo>
                <a:lnTo>
                  <a:pt x="0" y="221479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0" y="0"/>
            <a:ext cx="5034021" cy="3633648"/>
          </a:xfrm>
          <a:custGeom>
            <a:avLst/>
            <a:gdLst/>
            <a:ahLst/>
            <a:cxnLst/>
            <a:rect l="l" t="t" r="r" b="b"/>
            <a:pathLst>
              <a:path w="5034021" h="3633648">
                <a:moveTo>
                  <a:pt x="5034021" y="3633648"/>
                </a:moveTo>
                <a:lnTo>
                  <a:pt x="0" y="3633648"/>
                </a:lnTo>
                <a:lnTo>
                  <a:pt x="0" y="0"/>
                </a:lnTo>
                <a:lnTo>
                  <a:pt x="5034021" y="0"/>
                </a:lnTo>
                <a:lnTo>
                  <a:pt x="5034021" y="3633648"/>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TextBox 4"/>
          <p:cNvSpPr txBox="1"/>
          <p:nvPr/>
        </p:nvSpPr>
        <p:spPr>
          <a:xfrm>
            <a:off x="880110" y="7502749"/>
            <a:ext cx="3566718" cy="410480"/>
          </a:xfrm>
          <a:prstGeom prst="rect">
            <a:avLst/>
          </a:prstGeom>
        </p:spPr>
        <p:txBody>
          <a:bodyPr lIns="0" tIns="0" rIns="0" bIns="0" rtlCol="0" anchor="t">
            <a:spAutoFit/>
          </a:bodyPr>
          <a:lstStyle/>
          <a:p>
            <a:pPr marL="0" lvl="0" indent="0" algn="r">
              <a:lnSpc>
                <a:spcPts val="3249"/>
              </a:lnSpc>
              <a:spcBef>
                <a:spcPct val="0"/>
              </a:spcBef>
            </a:pPr>
            <a:r>
              <a:rPr lang="en-US" sz="2901" b="1">
                <a:solidFill>
                  <a:srgbClr val="080F3D"/>
                </a:solidFill>
                <a:latin typeface="League Spartan"/>
                <a:ea typeface="League Spartan"/>
                <a:cs typeface="League Spartan"/>
                <a:sym typeface="League Spartan"/>
              </a:rPr>
              <a:t>SONALI BANK PLC</a:t>
            </a:r>
          </a:p>
        </p:txBody>
      </p:sp>
      <p:sp>
        <p:nvSpPr>
          <p:cNvPr id="5" name="TextBox 5"/>
          <p:cNvSpPr txBox="1"/>
          <p:nvPr/>
        </p:nvSpPr>
        <p:spPr>
          <a:xfrm>
            <a:off x="1816930" y="3195498"/>
            <a:ext cx="11621237" cy="2138483"/>
          </a:xfrm>
          <a:prstGeom prst="rect">
            <a:avLst/>
          </a:prstGeom>
        </p:spPr>
        <p:txBody>
          <a:bodyPr lIns="0" tIns="0" rIns="0" bIns="0" rtlCol="0" anchor="t">
            <a:spAutoFit/>
          </a:bodyPr>
          <a:lstStyle/>
          <a:p>
            <a:pPr algn="ctr">
              <a:lnSpc>
                <a:spcPts val="18380"/>
              </a:lnSpc>
            </a:pPr>
            <a:r>
              <a:rPr lang="en-US" sz="10099">
                <a:solidFill>
                  <a:srgbClr val="080F3D"/>
                </a:solidFill>
                <a:latin typeface="Open Sans"/>
                <a:ea typeface="Open Sans"/>
                <a:cs typeface="Open Sans"/>
                <a:sym typeface="Open Sans"/>
              </a:rPr>
              <a:t>Q&amp; A</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52642" y="6586303"/>
            <a:ext cx="3068358" cy="2214797"/>
          </a:xfrm>
          <a:custGeom>
            <a:avLst/>
            <a:gdLst/>
            <a:ahLst/>
            <a:cxnLst/>
            <a:rect l="l" t="t" r="r" b="b"/>
            <a:pathLst>
              <a:path w="3068358" h="2214797">
                <a:moveTo>
                  <a:pt x="0" y="0"/>
                </a:moveTo>
                <a:lnTo>
                  <a:pt x="3068358" y="0"/>
                </a:lnTo>
                <a:lnTo>
                  <a:pt x="3068358" y="2214797"/>
                </a:lnTo>
                <a:lnTo>
                  <a:pt x="0" y="221479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flipV="1">
            <a:off x="0" y="0"/>
            <a:ext cx="5034021" cy="3633648"/>
          </a:xfrm>
          <a:custGeom>
            <a:avLst/>
            <a:gdLst/>
            <a:ahLst/>
            <a:cxnLst/>
            <a:rect l="l" t="t" r="r" b="b"/>
            <a:pathLst>
              <a:path w="5034021" h="3633648">
                <a:moveTo>
                  <a:pt x="5034021" y="3633648"/>
                </a:moveTo>
                <a:lnTo>
                  <a:pt x="0" y="3633648"/>
                </a:lnTo>
                <a:lnTo>
                  <a:pt x="0" y="0"/>
                </a:lnTo>
                <a:lnTo>
                  <a:pt x="5034021" y="0"/>
                </a:lnTo>
                <a:lnTo>
                  <a:pt x="5034021" y="3633648"/>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TextBox 4"/>
          <p:cNvSpPr txBox="1"/>
          <p:nvPr/>
        </p:nvSpPr>
        <p:spPr>
          <a:xfrm>
            <a:off x="880110" y="7510510"/>
            <a:ext cx="3566718" cy="410480"/>
          </a:xfrm>
          <a:prstGeom prst="rect">
            <a:avLst/>
          </a:prstGeom>
        </p:spPr>
        <p:txBody>
          <a:bodyPr lIns="0" tIns="0" rIns="0" bIns="0" rtlCol="0" anchor="t">
            <a:spAutoFit/>
          </a:bodyPr>
          <a:lstStyle/>
          <a:p>
            <a:pPr marL="0" lvl="0" indent="0" algn="r">
              <a:lnSpc>
                <a:spcPts val="3249"/>
              </a:lnSpc>
              <a:spcBef>
                <a:spcPct val="0"/>
              </a:spcBef>
            </a:pPr>
            <a:r>
              <a:rPr lang="en-US" sz="2901" b="1">
                <a:solidFill>
                  <a:srgbClr val="080F3D"/>
                </a:solidFill>
                <a:latin typeface="League Spartan"/>
                <a:ea typeface="League Spartan"/>
                <a:cs typeface="League Spartan"/>
                <a:sym typeface="League Spartan"/>
              </a:rPr>
              <a:t>SONALI BANK PLC</a:t>
            </a:r>
          </a:p>
        </p:txBody>
      </p:sp>
      <p:sp>
        <p:nvSpPr>
          <p:cNvPr id="5" name="TextBox 5"/>
          <p:cNvSpPr txBox="1"/>
          <p:nvPr/>
        </p:nvSpPr>
        <p:spPr>
          <a:xfrm>
            <a:off x="1816930" y="3195498"/>
            <a:ext cx="11621237" cy="2138483"/>
          </a:xfrm>
          <a:prstGeom prst="rect">
            <a:avLst/>
          </a:prstGeom>
        </p:spPr>
        <p:txBody>
          <a:bodyPr lIns="0" tIns="0" rIns="0" bIns="0" rtlCol="0" anchor="t">
            <a:spAutoFit/>
          </a:bodyPr>
          <a:lstStyle/>
          <a:p>
            <a:pPr algn="ctr">
              <a:lnSpc>
                <a:spcPts val="18380"/>
              </a:lnSpc>
            </a:pPr>
            <a:r>
              <a:rPr lang="en-US" sz="10099">
                <a:solidFill>
                  <a:srgbClr val="080F3D"/>
                </a:solidFill>
                <a:latin typeface="Open Sans"/>
                <a:ea typeface="Open Sans"/>
                <a:cs typeface="Open Sans"/>
                <a:sym typeface="Open Sans"/>
              </a:rPr>
              <a:t>THANKS’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574</Words>
  <Application>Microsoft Office PowerPoint</Application>
  <PresentationFormat>Custom</PresentationFormat>
  <Paragraphs>75</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League Spartan</vt:lpstr>
      <vt:lpstr>Canva Sans</vt:lpstr>
      <vt:lpstr>Open Sans</vt:lpstr>
      <vt:lpstr>Calibri</vt:lpstr>
      <vt:lpstr>Open Sans Bold</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Clean Geometric Marketing Expert Facebook Cover</dc:title>
  <cp:lastModifiedBy>Hasan</cp:lastModifiedBy>
  <cp:revision>2</cp:revision>
  <dcterms:created xsi:type="dcterms:W3CDTF">2006-08-16T00:00:00Z</dcterms:created>
  <dcterms:modified xsi:type="dcterms:W3CDTF">2025-05-26T13:51:48Z</dcterms:modified>
  <dc:identifier>DAGojS1YVlU</dc:identifier>
</cp:coreProperties>
</file>